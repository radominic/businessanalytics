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4" r:id="rId3"/>
    <p:sldId id="265" r:id="rId4"/>
    <p:sldId id="256" r:id="rId5"/>
    <p:sldId id="260" r:id="rId6"/>
    <p:sldId id="262" r:id="rId7"/>
    <p:sldId id="266" r:id="rId8"/>
    <p:sldId id="267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58" autoAdjust="0"/>
    <p:restoredTop sz="94660"/>
  </p:normalViewPr>
  <p:slideViewPr>
    <p:cSldViewPr snapToGrid="0">
      <p:cViewPr varScale="1">
        <p:scale>
          <a:sx n="57" d="100"/>
          <a:sy n="57" d="100"/>
        </p:scale>
        <p:origin x="78" y="13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41D93D-0CFA-49EF-BE73-A894FE262C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54E245-D132-4C0F-9264-D072CBF3D6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0F7D3A-903F-4711-A026-1E92E718D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2FE221-66AD-471D-893B-C08F43CC2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801EF5-3FCF-4160-8E94-8C2CCCAED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3356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1B6ED-2C56-4F99-B75B-6C62EBE27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34A23C-F08E-46E5-89E1-E229515D5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9B41B9-A957-4895-959B-6BB1B4C30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51646B-957B-4E17-9C7F-4D1646A9F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24ABEC-8418-4171-8BA6-D03C1AE4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47630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8432C-56BB-467D-B7E6-AE50E5EA6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09B205-9EEF-42CC-945D-2C9BA905C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1C1DC0-16BE-44C7-8FAE-F219334A8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C035EF-9278-4D20-9ED0-B2FBB486D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E88B94-567F-45E4-BB32-032DDDB07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5144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85D954-D926-4355-AA6D-C53A26D65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E19AEE-28C2-4A5B-9B6D-67881D286E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219308-FAA0-4F11-A44D-0E2A4C4D33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8379BA-BBA1-422A-BCF3-1C00D2BAA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5DA6C3A-8789-43DA-A5E7-441713446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BDC7B8-2411-498E-B860-0DB1ED2DA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7367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3CB197-5259-4BBA-B8AE-D18320F06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B8128F-97AC-4D15-A39C-07BEEC8460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DF8B735-A6F8-4BDA-A680-75AC08752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1A9A040-6189-421E-8BA5-5FCDEA85C3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151D31A-F350-4D5A-974D-D64F8158B1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30550D3-F3BC-44B3-9996-FBC05C5B5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A260A75-996D-46B3-9EBD-58135357C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C35272A-81F4-48EB-8E7D-905A4D30D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2456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5429DE-FE5F-4B4C-A045-3EEC4F097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52B4208-B703-489B-BA38-11A457583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6E8B2CA-B2A1-49EC-B7A1-84162238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642E75-20D6-4223-85C8-1DADA5EAA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9748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256203F-6E84-4A8E-83B3-948D1C9FA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B217071-6FFE-4753-8A21-6C81EFCC8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C92879-2AA6-4311-928E-D593C4C16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6871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5C67A4-1A66-4975-BEC0-BD89B23CA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29D940-2E24-4B60-ADB7-8BF453D5F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ED12C3-09CA-4125-8E11-32DF687C7C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EAD6381-6C37-428B-9E76-61267C83F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34B161-A180-46B6-A183-79413C33A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631743E-B73B-41E1-8D51-8C3FA3245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6670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71E639-89CB-46BB-A94B-71E046B25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8C711EA-8DD8-40C5-971E-34ACA6F731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D479A-76A5-42F9-87FD-5BA49E3FF4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5CA6227-A2A8-45AB-B22C-1423A5B9F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0C909A8-F6AA-4B00-BB31-568E1ED55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591430-C8A5-49F4-A8E9-F263C3A2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0796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7A5EC7-D282-417E-BEED-A90DE8CD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8EEA17-88DE-4368-8961-9055060F5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984B8-0D92-4237-BD24-CF637FDE6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42EFE8-BA47-43A8-A1A8-684CF2663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FE6413-8189-4955-9880-9E27288CE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5784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F14D14F-126A-459A-A227-76B78AC445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A3B1A50-C33A-41B1-AE25-CE894B1376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F7C45D-A40D-490E-BA40-9C59F4D4A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C9916-568B-4B1D-9E9C-669924CD1746}" type="datetimeFigureOut">
              <a:rPr lang="ko-KR" altLang="en-US" smtClean="0"/>
              <a:t>2019-10-18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714FC3-9B11-49F9-B67A-EB5DD97A0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5760F6-A06B-418E-A9E4-F565386E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9834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182349E-1496-4393-9A74-CDBCEABE6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6C09606-D73B-40DD-B338-A5B1BBA28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32BE7D-65BB-467C-982B-71D25C2226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AC9916-568B-4B1D-9E9C-669924CD1746}" type="datetimeFigureOut">
              <a:rPr lang="ko-KR" altLang="en-US" smtClean="0"/>
              <a:t>2019-10-18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5DC15F-3057-4EE5-9D1A-50635D369B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336B1F-596A-4403-919E-73B1253F29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4240BC-049F-4685-87F3-A861C29667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0146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AA3140-03C1-4DAF-A48E-9EFC31CF2E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Business</a:t>
            </a:r>
            <a:r>
              <a:rPr lang="ko-KR" altLang="en-US" dirty="0"/>
              <a:t> </a:t>
            </a:r>
            <a:r>
              <a:rPr lang="en-US" altLang="ko-KR" dirty="0"/>
              <a:t>Analytics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FF5E789-8159-41CF-B70E-1B4C98ED7F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15146312 Park, Gangmin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517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842840A-DC3F-46A3-8B36-11F8C09F9DB3}"/>
              </a:ext>
            </a:extLst>
          </p:cNvPr>
          <p:cNvSpPr txBox="1"/>
          <p:nvPr/>
        </p:nvSpPr>
        <p:spPr>
          <a:xfrm>
            <a:off x="287867" y="220134"/>
            <a:ext cx="9188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/>
              <a:t>Corr</a:t>
            </a:r>
            <a:endParaRPr lang="ko-KR" altLang="en-US" sz="28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4CF5CB7-C9E7-4D16-8B9C-D7AAF56F6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167" y="220134"/>
            <a:ext cx="1586547" cy="5283200"/>
          </a:xfrm>
          <a:prstGeom prst="rect">
            <a:avLst/>
          </a:prstGeom>
        </p:spPr>
      </p:pic>
      <p:sp>
        <p:nvSpPr>
          <p:cNvPr id="6" name="타원 5">
            <a:extLst>
              <a:ext uri="{FF2B5EF4-FFF2-40B4-BE49-F238E27FC236}">
                <a16:creationId xmlns:a16="http://schemas.microsoft.com/office/drawing/2014/main" id="{D32E70AB-F1F6-4335-A50E-26BFB9B474D6}"/>
              </a:ext>
            </a:extLst>
          </p:cNvPr>
          <p:cNvSpPr/>
          <p:nvPr/>
        </p:nvSpPr>
        <p:spPr>
          <a:xfrm>
            <a:off x="3616906" y="5858934"/>
            <a:ext cx="135467" cy="13546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B8B9201-0258-44D7-90BC-16B5124A88A7}"/>
              </a:ext>
            </a:extLst>
          </p:cNvPr>
          <p:cNvSpPr/>
          <p:nvPr/>
        </p:nvSpPr>
        <p:spPr>
          <a:xfrm>
            <a:off x="3616906" y="6096000"/>
            <a:ext cx="135467" cy="13546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68E0B5E-51ED-4A9E-999E-D4567E6D95AF}"/>
              </a:ext>
            </a:extLst>
          </p:cNvPr>
          <p:cNvSpPr/>
          <p:nvPr/>
        </p:nvSpPr>
        <p:spPr>
          <a:xfrm>
            <a:off x="3616906" y="6333066"/>
            <a:ext cx="135467" cy="13546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0C454B9-B0FE-42B4-92B8-EEF196F62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5182" y="220134"/>
            <a:ext cx="1627450" cy="5283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8DEB24E-9E92-437D-8AC3-717B4B22BF82}"/>
              </a:ext>
            </a:extLst>
          </p:cNvPr>
          <p:cNvSpPr txBox="1"/>
          <p:nvPr/>
        </p:nvSpPr>
        <p:spPr>
          <a:xfrm>
            <a:off x="7162885" y="5674268"/>
            <a:ext cx="1649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Group by info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9245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DE2642-4379-4435-84E1-75DDCEDB87E5}"/>
              </a:ext>
            </a:extLst>
          </p:cNvPr>
          <p:cNvSpPr txBox="1"/>
          <p:nvPr/>
        </p:nvSpPr>
        <p:spPr>
          <a:xfrm>
            <a:off x="287867" y="220134"/>
            <a:ext cx="14204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F-score</a:t>
            </a:r>
            <a:endParaRPr lang="ko-KR" altLang="en-US" sz="28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6B67897-BC2E-4F77-B638-A5E33DF76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541" y="743354"/>
            <a:ext cx="2914650" cy="4229100"/>
          </a:xfrm>
          <a:prstGeom prst="rect">
            <a:avLst/>
          </a:prstGeom>
        </p:spPr>
      </p:pic>
      <p:sp>
        <p:nvSpPr>
          <p:cNvPr id="6" name="타원 5">
            <a:extLst>
              <a:ext uri="{FF2B5EF4-FFF2-40B4-BE49-F238E27FC236}">
                <a16:creationId xmlns:a16="http://schemas.microsoft.com/office/drawing/2014/main" id="{DE095A28-7EC3-455E-A105-345BC8AF733F}"/>
              </a:ext>
            </a:extLst>
          </p:cNvPr>
          <p:cNvSpPr/>
          <p:nvPr/>
        </p:nvSpPr>
        <p:spPr>
          <a:xfrm>
            <a:off x="3962895" y="5505047"/>
            <a:ext cx="135467" cy="13546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FE87B4E-EE95-4729-94E7-95954FB0E277}"/>
              </a:ext>
            </a:extLst>
          </p:cNvPr>
          <p:cNvSpPr/>
          <p:nvPr/>
        </p:nvSpPr>
        <p:spPr>
          <a:xfrm>
            <a:off x="3962895" y="5742113"/>
            <a:ext cx="135467" cy="13546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E15A26C8-1DF4-4F86-92D7-588ABB2F6F37}"/>
              </a:ext>
            </a:extLst>
          </p:cNvPr>
          <p:cNvSpPr/>
          <p:nvPr/>
        </p:nvSpPr>
        <p:spPr>
          <a:xfrm>
            <a:off x="3962895" y="5979179"/>
            <a:ext cx="135467" cy="13546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461FA13-1E26-4CE4-8010-DC41E3966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3640" y="712303"/>
            <a:ext cx="1473872" cy="57788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D0300BF-3EA1-4DE4-9281-72E214C8A81D}"/>
              </a:ext>
            </a:extLst>
          </p:cNvPr>
          <p:cNvSpPr txBox="1"/>
          <p:nvPr/>
        </p:nvSpPr>
        <p:spPr>
          <a:xfrm>
            <a:off x="9831945" y="3632274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11528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5916A8-7094-4E36-96C3-49122712B620}"/>
              </a:ext>
            </a:extLst>
          </p:cNvPr>
          <p:cNvSpPr txBox="1"/>
          <p:nvPr/>
        </p:nvSpPr>
        <p:spPr>
          <a:xfrm>
            <a:off x="287867" y="220134"/>
            <a:ext cx="805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RHI</a:t>
            </a:r>
            <a:endParaRPr lang="ko-KR" altLang="en-US" sz="28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1A5550-A42E-4052-903C-F7D12B8A7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897" y="440266"/>
            <a:ext cx="4976283" cy="378068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BDBC49F-687E-48C6-B4D8-EA8092A43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4180" y="481744"/>
            <a:ext cx="5075967" cy="37806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9BC333-EEA4-4F73-90D4-7FFB11A1F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897" y="3942537"/>
            <a:ext cx="4976283" cy="245554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BA9BC81-8C21-48D7-A147-EA6B8062AE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967" y="4636909"/>
            <a:ext cx="4770644" cy="19135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184EE1-391A-45AB-94FA-9280AAFD195F}"/>
              </a:ext>
            </a:extLst>
          </p:cNvPr>
          <p:cNvSpPr txBox="1"/>
          <p:nvPr/>
        </p:nvSpPr>
        <p:spPr>
          <a:xfrm>
            <a:off x="1517897" y="1268287"/>
            <a:ext cx="795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White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12E998-D1D5-4F2C-92B5-610629D89D98}"/>
              </a:ext>
            </a:extLst>
          </p:cNvPr>
          <p:cNvSpPr txBox="1"/>
          <p:nvPr/>
        </p:nvSpPr>
        <p:spPr>
          <a:xfrm>
            <a:off x="1517897" y="2372085"/>
            <a:ext cx="28921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Black or African American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86280A-48E0-44A3-9434-533562DA0E67}"/>
              </a:ext>
            </a:extLst>
          </p:cNvPr>
          <p:cNvSpPr txBox="1"/>
          <p:nvPr/>
        </p:nvSpPr>
        <p:spPr>
          <a:xfrm>
            <a:off x="1517897" y="3475883"/>
            <a:ext cx="3394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American Indian, Alaska native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22FECE-4994-4D92-8718-DF9AF57437EE}"/>
              </a:ext>
            </a:extLst>
          </p:cNvPr>
          <p:cNvSpPr txBox="1"/>
          <p:nvPr/>
        </p:nvSpPr>
        <p:spPr>
          <a:xfrm>
            <a:off x="1517897" y="4679638"/>
            <a:ext cx="74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Asian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1A953-CA76-48CF-866E-F54A85957E2D}"/>
              </a:ext>
            </a:extLst>
          </p:cNvPr>
          <p:cNvSpPr txBox="1"/>
          <p:nvPr/>
        </p:nvSpPr>
        <p:spPr>
          <a:xfrm>
            <a:off x="1517897" y="5968102"/>
            <a:ext cx="3679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Native Hawaiian, pacific islander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C7BBD2-647B-45AC-B95E-45FA5043B3E3}"/>
              </a:ext>
            </a:extLst>
          </p:cNvPr>
          <p:cNvSpPr txBox="1"/>
          <p:nvPr/>
        </p:nvSpPr>
        <p:spPr>
          <a:xfrm>
            <a:off x="6494180" y="1268287"/>
            <a:ext cx="2210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Two or More Races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D88FD5-4967-47F1-8688-93A31FC07240}"/>
              </a:ext>
            </a:extLst>
          </p:cNvPr>
          <p:cNvSpPr txBox="1"/>
          <p:nvPr/>
        </p:nvSpPr>
        <p:spPr>
          <a:xfrm>
            <a:off x="6527304" y="2396024"/>
            <a:ext cx="1830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Hispanic, Latino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24D002-1FD1-4567-B3EA-617392C015AA}"/>
              </a:ext>
            </a:extLst>
          </p:cNvPr>
          <p:cNvSpPr txBox="1"/>
          <p:nvPr/>
        </p:nvSpPr>
        <p:spPr>
          <a:xfrm>
            <a:off x="6526561" y="3833504"/>
            <a:ext cx="3257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White, not Hispanic or Latino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699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5916A8-7094-4E36-96C3-49122712B620}"/>
              </a:ext>
            </a:extLst>
          </p:cNvPr>
          <p:cNvSpPr txBox="1"/>
          <p:nvPr/>
        </p:nvSpPr>
        <p:spPr>
          <a:xfrm>
            <a:off x="287867" y="220134"/>
            <a:ext cx="17658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/>
              <a:t>RHI+AGE</a:t>
            </a:r>
            <a:endParaRPr lang="ko-KR" altLang="en-US" sz="28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43BA05-F053-4393-9EBC-CCA3A9337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67" y="998323"/>
            <a:ext cx="5446755" cy="407917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23DB6ED-7DF9-4BF2-9B4E-A076551E4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1231" y="4295560"/>
            <a:ext cx="6238216" cy="25624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AD53F2-15BB-46CF-8A1B-8F7A22C74FE6}"/>
              </a:ext>
            </a:extLst>
          </p:cNvPr>
          <p:cNvSpPr txBox="1"/>
          <p:nvPr/>
        </p:nvSpPr>
        <p:spPr>
          <a:xfrm>
            <a:off x="287867" y="1974573"/>
            <a:ext cx="1084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Under 5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090D49-1971-4BCA-90E5-45ADF94D930F}"/>
              </a:ext>
            </a:extLst>
          </p:cNvPr>
          <p:cNvSpPr txBox="1"/>
          <p:nvPr/>
        </p:nvSpPr>
        <p:spPr>
          <a:xfrm>
            <a:off x="222503" y="3244334"/>
            <a:ext cx="1831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Under 18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CB8D55-03F0-4A3C-945E-5D02B2B2FF3B}"/>
              </a:ext>
            </a:extLst>
          </p:cNvPr>
          <p:cNvSpPr txBox="1"/>
          <p:nvPr/>
        </p:nvSpPr>
        <p:spPr>
          <a:xfrm>
            <a:off x="222503" y="4475553"/>
            <a:ext cx="1831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65 and over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0564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5916A8-7094-4E36-96C3-49122712B620}"/>
              </a:ext>
            </a:extLst>
          </p:cNvPr>
          <p:cNvSpPr txBox="1"/>
          <p:nvPr/>
        </p:nvSpPr>
        <p:spPr>
          <a:xfrm>
            <a:off x="287867" y="220134"/>
            <a:ext cx="17876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RHI+EDU</a:t>
            </a:r>
            <a:endParaRPr lang="ko-KR" altLang="en-US" sz="28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E76F9C4-D795-42A9-B0C1-FF65CCFD1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712" y="4119562"/>
            <a:ext cx="6461921" cy="260297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16B166A-DD6F-43A7-B2E8-72FBB8A51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610" y="904826"/>
            <a:ext cx="6186190" cy="30196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DC24FC-7F62-4D90-A9BD-BBC15696B26E}"/>
              </a:ext>
            </a:extLst>
          </p:cNvPr>
          <p:cNvSpPr txBox="1"/>
          <p:nvPr/>
        </p:nvSpPr>
        <p:spPr>
          <a:xfrm>
            <a:off x="722610" y="1652840"/>
            <a:ext cx="711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High school graduate or higher, percent of persons age 25+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DF5187-1FE5-42DA-A11A-E4E131FB1786}"/>
              </a:ext>
            </a:extLst>
          </p:cNvPr>
          <p:cNvSpPr txBox="1"/>
          <p:nvPr/>
        </p:nvSpPr>
        <p:spPr>
          <a:xfrm>
            <a:off x="722610" y="3059668"/>
            <a:ext cx="6461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Bachelor's degree or higher, percent of persons age 25+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4025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FD9BCCC7-E45D-48B7-BDF8-F0F5F9F25F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084" y="728133"/>
            <a:ext cx="4635225" cy="59097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5916A8-7094-4E36-96C3-49122712B620}"/>
              </a:ext>
            </a:extLst>
          </p:cNvPr>
          <p:cNvSpPr txBox="1"/>
          <p:nvPr/>
        </p:nvSpPr>
        <p:spPr>
          <a:xfrm>
            <a:off x="287867" y="220134"/>
            <a:ext cx="18020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/>
              <a:t>RHI+HSG</a:t>
            </a:r>
            <a:endParaRPr lang="ko-KR" altLang="en-US" sz="28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D594DBB-7F9A-43D1-8E8E-EF7ADF04A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8282" y="4085907"/>
            <a:ext cx="6211971" cy="244291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0529A81-D24E-4D45-8832-278C4D50BE9C}"/>
              </a:ext>
            </a:extLst>
          </p:cNvPr>
          <p:cNvSpPr/>
          <p:nvPr/>
        </p:nvSpPr>
        <p:spPr>
          <a:xfrm>
            <a:off x="3969563" y="1311477"/>
            <a:ext cx="879817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>
                <a:solidFill>
                  <a:srgbClr val="000000"/>
                </a:solidFill>
                <a:latin typeface="맑은 고딕" panose="020B0503020000020004" pitchFamily="50" charset="-127"/>
              </a:rPr>
              <a:t>HSG010214	Housing units, 2014	</a:t>
            </a:r>
          </a:p>
          <a:p>
            <a:r>
              <a:rPr lang="en-US" altLang="ko-KR">
                <a:solidFill>
                  <a:srgbClr val="000000"/>
                </a:solidFill>
                <a:latin typeface="맑은 고딕" panose="020B0503020000020004" pitchFamily="50" charset="-127"/>
              </a:rPr>
              <a:t>HSG445213	Homeownership rate, 2009-2013	</a:t>
            </a:r>
          </a:p>
          <a:p>
            <a:r>
              <a:rPr lang="en-US" altLang="ko-KR">
                <a:solidFill>
                  <a:srgbClr val="000000"/>
                </a:solidFill>
                <a:latin typeface="맑은 고딕" panose="020B0503020000020004" pitchFamily="50" charset="-127"/>
              </a:rPr>
              <a:t>HSG096213	Housing units in multi-unit structures, percent, 2009-2013	</a:t>
            </a:r>
          </a:p>
          <a:p>
            <a:r>
              <a:rPr lang="en-US" altLang="ko-KR">
                <a:solidFill>
                  <a:srgbClr val="000000"/>
                </a:solidFill>
                <a:latin typeface="맑은 고딕" panose="020B0503020000020004" pitchFamily="50" charset="-127"/>
              </a:rPr>
              <a:t>HSG495213	Median value of owner-occupied housing units, 2009-2013	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08031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5916A8-7094-4E36-96C3-49122712B620}"/>
              </a:ext>
            </a:extLst>
          </p:cNvPr>
          <p:cNvSpPr txBox="1"/>
          <p:nvPr/>
        </p:nvSpPr>
        <p:spPr>
          <a:xfrm>
            <a:off x="287867" y="220134"/>
            <a:ext cx="374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RHI+HSG+AGE+EDU</a:t>
            </a:r>
            <a:endParaRPr lang="ko-KR" altLang="en-US" sz="28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DD6108E-EE86-44A1-A874-E12DF69B1B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3174" y="1965325"/>
            <a:ext cx="7485652" cy="292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162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89</Words>
  <Application>Microsoft Office PowerPoint</Application>
  <PresentationFormat>와이드스크린</PresentationFormat>
  <Paragraphs>28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Business Analytics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Analytics</dc:title>
  <dc:creator>parkgangmin</dc:creator>
  <cp:lastModifiedBy>parkgangmin</cp:lastModifiedBy>
  <cp:revision>9</cp:revision>
  <dcterms:created xsi:type="dcterms:W3CDTF">2019-10-12T02:19:35Z</dcterms:created>
  <dcterms:modified xsi:type="dcterms:W3CDTF">2019-10-18T14:36:26Z</dcterms:modified>
</cp:coreProperties>
</file>