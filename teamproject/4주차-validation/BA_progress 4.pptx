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274" r:id="rId5"/>
    <p:sldId id="427" r:id="rId6"/>
    <p:sldId id="365" r:id="rId7"/>
    <p:sldId id="406" r:id="rId8"/>
    <p:sldId id="437" r:id="rId9"/>
    <p:sldId id="438" r:id="rId10"/>
    <p:sldId id="439" r:id="rId11"/>
    <p:sldId id="440" r:id="rId12"/>
    <p:sldId id="441" r:id="rId13"/>
    <p:sldId id="428" r:id="rId14"/>
    <p:sldId id="429" r:id="rId15"/>
    <p:sldId id="442" r:id="rId16"/>
    <p:sldId id="443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70AE47"/>
    <a:srgbClr val="FFF2CC"/>
    <a:srgbClr val="ABD882"/>
    <a:srgbClr val="6EAC46"/>
    <a:srgbClr val="FF9933"/>
    <a:srgbClr val="FFCA4F"/>
    <a:srgbClr val="FF6600"/>
    <a:srgbClr val="469014"/>
    <a:srgbClr val="56B0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06" autoAdjust="0"/>
    <p:restoredTop sz="82429" autoAdjust="0"/>
  </p:normalViewPr>
  <p:slideViewPr>
    <p:cSldViewPr snapToGrid="0" showGuides="1">
      <p:cViewPr varScale="1">
        <p:scale>
          <a:sx n="65" d="100"/>
          <a:sy n="65" d="100"/>
        </p:scale>
        <p:origin x="72" y="702"/>
      </p:cViewPr>
      <p:guideLst>
        <p:guide orient="horz" pos="2160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3DD46-6924-44BE-9CE5-1101E4E5BF82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CB611-F6DC-4EDD-83C3-516AB61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257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CB611-F6DC-4EDD-83C3-516AB6137E6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978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3945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1877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04839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7589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90127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3978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50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5681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476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64AE2-B414-40F1-90E8-8DE7965BE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90BA8F-F284-43B4-9805-B73758942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7058A-959E-4E8B-B8D2-A90500EA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6647C9-5AEB-45D5-A07A-5596931F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EA807-9BF5-474E-BE83-D17FD073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17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6BB44-9739-405E-AE14-8C92EC3D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7441CE-A0ED-4DD0-A5E0-C86F608B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3CC42-6F36-4FE2-9840-05DA9BE0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C07BC-28CF-4426-A407-9DBC1ED5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EAF9F-69DA-4046-B03B-2A3DB1C8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35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15363-5252-437A-AF6B-092578399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92D324-7CFF-40CE-A256-3CA046F30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1C708-028D-4D5D-B20E-A11F4056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FDD41E-5C13-47CA-9EE4-32E9E060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96C06-EF82-4022-8C45-CCDDD91F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4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67983-B8F3-433C-B041-F76E2154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93055-F811-496B-848F-D32762343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A7A8DE-4B54-4034-8D37-E93CCF871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7777F8-9330-4339-BAC7-8A465ACD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E803F0-8225-4287-8512-AC6A9641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16A4EB-6B81-4DE6-BE58-568A53FC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7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F25F2-3DBC-4588-B95D-2083A362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D1200F-A5F5-430E-87CF-FB0797914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16FD20-D5C4-4DCA-AF8D-FF14599C8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86A565-01BA-48FC-B88C-25ED237E8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21DBE7-B1B1-4D8D-996A-8548D4DB9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9A8227-63C9-4043-AE81-02FD5D6E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1406AB-BF02-4B17-A689-97D6A1E0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FAE244-DE09-428A-ACB1-B0815D41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04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BD4AB-A27A-4178-BAA8-895DD495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1E1D48-FFE5-4914-AE0E-919F4F99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9A1324-1C3D-49C8-8170-71BF81B5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5E0CEC-AB72-4AF8-887F-D365C29D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8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34AB0C-E598-401F-B1EC-821153F7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B9641A-CEE9-4A62-A8BC-480CE705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DD2C9-4AB8-4D81-8787-5812A93C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4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C74D8-1F96-4094-AF54-81A5216D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64FDA-BF34-4AA5-AC76-FBB9708AB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62B58-2F0D-48C2-A58F-760B9AD21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8628EB-35A1-4464-9861-E7A9ABD85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DB737-4C03-4566-BBF9-8B7542FD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BE7DF9-9A86-477F-9017-9FEF0899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29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2A332-0323-4E09-A61F-FF270797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02430B-5D77-43EC-A633-677D2CB82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E9351A-5E87-4239-8B3B-13F639F9C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0E6C9B-4048-4263-AA7D-0A8B5219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9CAD72-A062-4D74-AE2E-3D82BF43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CE1D24-0CCC-4C36-BBE8-C2BE2B74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86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2E10-A35C-4538-8E0C-93F06440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5651E0-5DAC-482E-9CD8-032656C18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CE786-0810-4037-879F-E3592A1E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6A5A2E-8E48-4DA1-B89D-36FC9EFD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911BE-6850-4575-AEA9-AAF6BBB6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28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B2448F-25F7-4928-855D-6E9393E8D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07FC98-7BC4-4C92-95A0-3DC4A4000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906BDD-7876-4936-B6B1-4D905ECE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46E70-1E4E-486B-B358-6962369F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857D6-661E-49C0-A7FB-A17DA126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00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F7AFA9-3161-49CC-AEEF-E7DD08C6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5DBD50-7EC7-4C87-8945-883997E1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3FB83-43A0-4F40-BD6E-3671CEC9C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B812F-BFB0-44FB-901F-5952EA19365C}" type="datetimeFigureOut">
              <a:rPr lang="ko-KR" altLang="en-US" smtClean="0"/>
              <a:t>2019-11-24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71DA2-0F71-4419-8BF4-AAA28F0FD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2206C-EEA2-481A-8891-F8FB081CF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57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37AF7-E3D1-974D-966B-6576DF22E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017" y="1505030"/>
            <a:ext cx="10717966" cy="2387600"/>
          </a:xfrm>
        </p:spPr>
        <p:txBody>
          <a:bodyPr anchor="ctr">
            <a:noAutofit/>
          </a:bodyPr>
          <a:lstStyle/>
          <a:p>
            <a:r>
              <a:rPr kumimoji="1" lang="en-US" altLang="ko-KR" sz="5400" b="1" spc="-150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Business Analytics Project</a:t>
            </a:r>
            <a:endParaRPr kumimoji="1" lang="ko-KR" altLang="en-US" sz="5400" b="1" spc="-150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868B10-F4D8-084B-9389-7CC8D80FECDE}"/>
              </a:ext>
            </a:extLst>
          </p:cNvPr>
          <p:cNvCxnSpPr/>
          <p:nvPr/>
        </p:nvCxnSpPr>
        <p:spPr>
          <a:xfrm>
            <a:off x="0" y="750627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7F21173-3E8A-4249-8C1D-F897ADD01C9C}"/>
              </a:ext>
            </a:extLst>
          </p:cNvPr>
          <p:cNvSpPr/>
          <p:nvPr/>
        </p:nvSpPr>
        <p:spPr>
          <a:xfrm>
            <a:off x="0" y="750626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C282BF2-8F0B-7A41-A48E-9E0A20969515}"/>
              </a:ext>
            </a:extLst>
          </p:cNvPr>
          <p:cNvSpPr txBox="1">
            <a:spLocks/>
          </p:cNvSpPr>
          <p:nvPr/>
        </p:nvSpPr>
        <p:spPr>
          <a:xfrm>
            <a:off x="9171148" y="3133299"/>
            <a:ext cx="1779350" cy="9301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ko-KR" sz="2800" b="1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Week 4</a:t>
            </a:r>
            <a:endParaRPr kumimoji="1" lang="ko-KR" altLang="en-US" sz="2800" b="1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9C05F84F-2E20-6D4C-8694-3A2546CDE33C}"/>
              </a:ext>
            </a:extLst>
          </p:cNvPr>
          <p:cNvSpPr txBox="1">
            <a:spLocks/>
          </p:cNvSpPr>
          <p:nvPr/>
        </p:nvSpPr>
        <p:spPr>
          <a:xfrm>
            <a:off x="9266663" y="5542258"/>
            <a:ext cx="2834041" cy="1130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15146302 Kang,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Euiheyon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  <a:p>
            <a:pPr algn="l"/>
            <a:r>
              <a:rPr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15146304 Ku, Seunghyo</a:t>
            </a:r>
          </a:p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15146312 Park,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Gangmin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1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>
            <a:extLst>
              <a:ext uri="{FF2B5EF4-FFF2-40B4-BE49-F238E27FC236}">
                <a16:creationId xmlns:a16="http://schemas.microsoft.com/office/drawing/2014/main" id="{77A814D4-2A9E-F44A-B472-191A5277F24B}"/>
              </a:ext>
            </a:extLst>
          </p:cNvPr>
          <p:cNvSpPr txBox="1"/>
          <p:nvPr/>
        </p:nvSpPr>
        <p:spPr>
          <a:xfrm>
            <a:off x="3855345" y="1596477"/>
            <a:ext cx="24297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VIF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sz="3200" b="1" dirty="0">
                <a:solidFill>
                  <a:schemeClr val="accent6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Validation</a:t>
            </a:r>
          </a:p>
        </p:txBody>
      </p:sp>
      <p:sp>
        <p:nvSpPr>
          <p:cNvPr id="30" name="矩形 8">
            <a:extLst>
              <a:ext uri="{FF2B5EF4-FFF2-40B4-BE49-F238E27FC236}">
                <a16:creationId xmlns:a16="http://schemas.microsoft.com/office/drawing/2014/main" id="{92EE409D-DA8B-E943-A73D-2F41C8415BDC}"/>
              </a:ext>
            </a:extLst>
          </p:cNvPr>
          <p:cNvSpPr/>
          <p:nvPr/>
        </p:nvSpPr>
        <p:spPr>
          <a:xfrm>
            <a:off x="576056" y="578099"/>
            <a:ext cx="1640719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1" name="矩形 33">
            <a:extLst>
              <a:ext uri="{FF2B5EF4-FFF2-40B4-BE49-F238E27FC236}">
                <a16:creationId xmlns:a16="http://schemas.microsoft.com/office/drawing/2014/main" id="{37162FA4-F24C-CF4F-9A38-BA5362BED479}"/>
              </a:ext>
            </a:extLst>
          </p:cNvPr>
          <p:cNvSpPr/>
          <p:nvPr/>
        </p:nvSpPr>
        <p:spPr>
          <a:xfrm>
            <a:off x="1094753" y="1167744"/>
            <a:ext cx="2188803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  <a:sym typeface="Arial" panose="020B0604020202020204" pitchFamily="34" charset="0"/>
              </a:rPr>
              <a:t>CONTENTS</a:t>
            </a:r>
            <a:endParaRPr lang="zh-CN" altLang="en-US" sz="2800" b="1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  <a:sym typeface="Arial" panose="020B0604020202020204" pitchFamily="34" charset="0"/>
            </a:endParaRPr>
          </a:p>
        </p:txBody>
      </p:sp>
      <p:pic>
        <p:nvPicPr>
          <p:cNvPr id="1026" name="Picture 2" descr="김치, 아이콘, 일러스트, 벡터, 고추">
            <a:extLst>
              <a:ext uri="{FF2B5EF4-FFF2-40B4-BE49-F238E27FC236}">
                <a16:creationId xmlns:a16="http://schemas.microsoft.com/office/drawing/2014/main" id="{BB3D02F4-8028-4D96-B7D1-76783BC24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694850">
            <a:off x="2587128" y="2341246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4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 VIF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38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 VIF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6CC60-429C-41D8-AFF6-B730BF0CF0F8}"/>
              </a:ext>
            </a:extLst>
          </p:cNvPr>
          <p:cNvSpPr txBox="1"/>
          <p:nvPr/>
        </p:nvSpPr>
        <p:spPr>
          <a:xfrm>
            <a:off x="282420" y="992446"/>
            <a:ext cx="319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VIF</a:t>
            </a:r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FFAA196-7304-445D-873E-D83B48191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40" y="1361778"/>
            <a:ext cx="4522617" cy="518593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91E7674-19F1-400F-A00C-3040464BAE54}"/>
              </a:ext>
            </a:extLst>
          </p:cNvPr>
          <p:cNvSpPr/>
          <p:nvPr/>
        </p:nvSpPr>
        <p:spPr>
          <a:xfrm>
            <a:off x="404239" y="1321138"/>
            <a:ext cx="4522617" cy="40472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D3864E-F95E-42B0-8824-513AFC45B3A5}"/>
              </a:ext>
            </a:extLst>
          </p:cNvPr>
          <p:cNvSpPr txBox="1"/>
          <p:nvPr/>
        </p:nvSpPr>
        <p:spPr>
          <a:xfrm>
            <a:off x="5388077" y="2578479"/>
            <a:ext cx="242856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VIF is more than 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544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6CC60-429C-41D8-AFF6-B730BF0CF0F8}"/>
              </a:ext>
            </a:extLst>
          </p:cNvPr>
          <p:cNvSpPr txBox="1"/>
          <p:nvPr/>
        </p:nvSpPr>
        <p:spPr>
          <a:xfrm>
            <a:off x="282420" y="992446"/>
            <a:ext cx="37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Spot atmospheric </a:t>
            </a:r>
            <a:r>
              <a:rPr lang="en-US" altLang="ko-KR" b="1" dirty="0" err="1"/>
              <a:t>pressure_W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A653D85-B072-4BD3-B603-793BC0CF9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18" y="1534446"/>
            <a:ext cx="6596903" cy="69181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73C6AAC-A854-497C-B9E2-42A223CA2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17" y="2528733"/>
            <a:ext cx="3820499" cy="42313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0FFE3C-FFE3-48B6-A02F-4BB49E95F0AD}"/>
              </a:ext>
            </a:extLst>
          </p:cNvPr>
          <p:cNvSpPr txBox="1"/>
          <p:nvPr/>
        </p:nvSpPr>
        <p:spPr>
          <a:xfrm>
            <a:off x="282420" y="2182385"/>
            <a:ext cx="319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VIF</a:t>
            </a:r>
            <a:endParaRPr lang="ko-KR" altLang="en-US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9A700A-7EDD-4FA3-BD1E-2E539371DFB3}"/>
              </a:ext>
            </a:extLst>
          </p:cNvPr>
          <p:cNvSpPr/>
          <p:nvPr/>
        </p:nvSpPr>
        <p:spPr>
          <a:xfrm>
            <a:off x="404239" y="2970420"/>
            <a:ext cx="3827677" cy="28109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제목 1">
            <a:extLst>
              <a:ext uri="{FF2B5EF4-FFF2-40B4-BE49-F238E27FC236}">
                <a16:creationId xmlns:a16="http://schemas.microsoft.com/office/drawing/2014/main" id="{F8C5139A-28E3-4625-9A34-E327BEFD90D7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 VIF</a:t>
            </a:r>
          </a:p>
        </p:txBody>
      </p:sp>
    </p:spTree>
    <p:extLst>
      <p:ext uri="{BB962C8B-B14F-4D97-AF65-F5344CB8AC3E}">
        <p14:creationId xmlns:p14="http://schemas.microsoft.com/office/powerpoint/2010/main" val="2246498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6BA3769-AE6C-4115-AAF6-69EDD103C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39" y="2507470"/>
            <a:ext cx="3827677" cy="4219730"/>
          </a:xfrm>
          <a:prstGeom prst="rect">
            <a:avLst/>
          </a:prstGeom>
        </p:spPr>
      </p:pic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6CC60-429C-41D8-AFF6-B730BF0CF0F8}"/>
              </a:ext>
            </a:extLst>
          </p:cNvPr>
          <p:cNvSpPr txBox="1"/>
          <p:nvPr/>
        </p:nvSpPr>
        <p:spPr>
          <a:xfrm>
            <a:off x="282420" y="992446"/>
            <a:ext cx="37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Highest </a:t>
            </a:r>
            <a:r>
              <a:rPr lang="en-US" altLang="ko-KR" b="1" dirty="0" err="1"/>
              <a:t>temperature_W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0FFE3C-FFE3-48B6-A02F-4BB49E95F0AD}"/>
              </a:ext>
            </a:extLst>
          </p:cNvPr>
          <p:cNvSpPr txBox="1"/>
          <p:nvPr/>
        </p:nvSpPr>
        <p:spPr>
          <a:xfrm>
            <a:off x="282420" y="2182385"/>
            <a:ext cx="319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VIF</a:t>
            </a:r>
            <a:endParaRPr lang="ko-KR" altLang="en-US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9A700A-7EDD-4FA3-BD1E-2E539371DFB3}"/>
              </a:ext>
            </a:extLst>
          </p:cNvPr>
          <p:cNvSpPr/>
          <p:nvPr/>
        </p:nvSpPr>
        <p:spPr>
          <a:xfrm>
            <a:off x="404239" y="2883690"/>
            <a:ext cx="3827677" cy="28976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28C55F5-B2B6-48A3-B091-1EE2103DB6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20" y="1420077"/>
            <a:ext cx="7047100" cy="737992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B43B5E58-EC43-48C0-94AE-956013B7A376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 VIF</a:t>
            </a:r>
          </a:p>
        </p:txBody>
      </p:sp>
    </p:spTree>
    <p:extLst>
      <p:ext uri="{BB962C8B-B14F-4D97-AF65-F5344CB8AC3E}">
        <p14:creationId xmlns:p14="http://schemas.microsoft.com/office/powerpoint/2010/main" val="1899060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254EFE4-4772-491B-99D1-8EF11E36C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39" y="2474477"/>
            <a:ext cx="3827677" cy="4219730"/>
          </a:xfrm>
          <a:prstGeom prst="rect">
            <a:avLst/>
          </a:prstGeom>
        </p:spPr>
      </p:pic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6CC60-429C-41D8-AFF6-B730BF0CF0F8}"/>
              </a:ext>
            </a:extLst>
          </p:cNvPr>
          <p:cNvSpPr txBox="1"/>
          <p:nvPr/>
        </p:nvSpPr>
        <p:spPr>
          <a:xfrm>
            <a:off x="282420" y="992446"/>
            <a:ext cx="3773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Highest Relative </a:t>
            </a:r>
            <a:r>
              <a:rPr lang="en-US" altLang="ko-KR" b="1" dirty="0" err="1"/>
              <a:t>Humidity_W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0FFE3C-FFE3-48B6-A02F-4BB49E95F0AD}"/>
              </a:ext>
            </a:extLst>
          </p:cNvPr>
          <p:cNvSpPr txBox="1"/>
          <p:nvPr/>
        </p:nvSpPr>
        <p:spPr>
          <a:xfrm>
            <a:off x="282420" y="2182385"/>
            <a:ext cx="319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VIF</a:t>
            </a:r>
            <a:endParaRPr lang="ko-KR" altLang="en-US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59A700A-7EDD-4FA3-BD1E-2E539371DFB3}"/>
              </a:ext>
            </a:extLst>
          </p:cNvPr>
          <p:cNvSpPr/>
          <p:nvPr/>
        </p:nvSpPr>
        <p:spPr>
          <a:xfrm>
            <a:off x="404239" y="2883690"/>
            <a:ext cx="3827677" cy="28976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40B036-F680-46D9-9069-062CA600E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20" y="1406449"/>
            <a:ext cx="6897138" cy="775928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5C8EA052-E2FF-4DA6-A3DA-28E4D05AA660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 VIF</a:t>
            </a:r>
          </a:p>
        </p:txBody>
      </p:sp>
    </p:spTree>
    <p:extLst>
      <p:ext uri="{BB962C8B-B14F-4D97-AF65-F5344CB8AC3E}">
        <p14:creationId xmlns:p14="http://schemas.microsoft.com/office/powerpoint/2010/main" val="4043314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5C8EA052-E2FF-4DA6-A3DA-28E4D05AA660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 VIF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1C4B0D-4407-4140-BEF7-C48983A4F671}"/>
              </a:ext>
            </a:extLst>
          </p:cNvPr>
          <p:cNvSpPr txBox="1"/>
          <p:nvPr/>
        </p:nvSpPr>
        <p:spPr>
          <a:xfrm>
            <a:off x="1107512" y="919879"/>
            <a:ext cx="2219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From the EDA…</a:t>
            </a:r>
            <a:endParaRPr lang="ko-KR" altLang="en-US" b="1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A04D66A-DF67-4611-9059-CAA8326D5671}"/>
              </a:ext>
            </a:extLst>
          </p:cNvPr>
          <p:cNvGrpSpPr/>
          <p:nvPr/>
        </p:nvGrpSpPr>
        <p:grpSpPr>
          <a:xfrm>
            <a:off x="189029" y="735608"/>
            <a:ext cx="9140895" cy="5984723"/>
            <a:chOff x="6444346" y="-656556"/>
            <a:chExt cx="13674294" cy="705881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60A8AAB-7709-4F1B-A802-441218A94E9C}"/>
                </a:ext>
              </a:extLst>
            </p:cNvPr>
            <p:cNvSpPr txBox="1"/>
            <p:nvPr/>
          </p:nvSpPr>
          <p:spPr>
            <a:xfrm>
              <a:off x="8045479" y="6002939"/>
              <a:ext cx="1942405" cy="399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2015~2018</a:t>
              </a:r>
              <a:endParaRPr lang="ko-KR" altLang="en-US" sz="1600" dirty="0"/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06391616-BC95-4190-8D95-8B31194E1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4346" y="145242"/>
              <a:ext cx="5144672" cy="256063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1FA74E7-3516-4703-8323-520D1807080D}"/>
                </a:ext>
              </a:extLst>
            </p:cNvPr>
            <p:cNvSpPr txBox="1"/>
            <p:nvPr/>
          </p:nvSpPr>
          <p:spPr>
            <a:xfrm>
              <a:off x="17542573" y="-656556"/>
              <a:ext cx="2576067" cy="399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All similar shape</a:t>
              </a:r>
              <a:endParaRPr lang="ko-KR" altLang="en-US" sz="1600" dirty="0"/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D2831747-00E5-401B-960B-81852AB27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29" y="3803766"/>
            <a:ext cx="3439074" cy="23606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AB4B33EF-FED4-416A-B5D6-4B124E4C8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686" y="1289211"/>
            <a:ext cx="2465296" cy="15266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79F3781-3BCB-43D3-9D74-7CBED7A9C5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8686" y="2958978"/>
            <a:ext cx="2432259" cy="17285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966DCF28-024F-45D5-B9E7-2DA1ADD8EF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37286" y="1289211"/>
            <a:ext cx="2496622" cy="15415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C200212C-B17F-43F1-91F0-B7581A8864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2974" y="1289211"/>
            <a:ext cx="2419506" cy="12665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64003B7E-2DCB-4164-BFA9-1DE734F447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7286" y="5012977"/>
            <a:ext cx="2496622" cy="13275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3498E0B-791C-4AC7-9843-9D9CAD519C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6220" y="4833631"/>
            <a:ext cx="2424726" cy="17058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72EA9C7-A750-4B4A-AC13-F7AD399B620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7398" y="2721175"/>
            <a:ext cx="2450658" cy="1266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EBE4EEB-CD84-4738-9216-1BC3A89EA5E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37286" y="3011696"/>
            <a:ext cx="2496622" cy="18203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E536B59-E7A2-47F1-B1E0-EC2854AD665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38222" y="4168708"/>
            <a:ext cx="2464749" cy="18458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53343E52-D396-49F9-9EF5-21F050111BE6}"/>
              </a:ext>
            </a:extLst>
          </p:cNvPr>
          <p:cNvSpPr/>
          <p:nvPr/>
        </p:nvSpPr>
        <p:spPr>
          <a:xfrm>
            <a:off x="3923229" y="1104545"/>
            <a:ext cx="8268771" cy="56157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742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5C8EA052-E2FF-4DA6-A3DA-28E4D05AA660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 VIF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97C75B1-B80F-4A9C-AE5D-1A2DE222C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20" y="989217"/>
            <a:ext cx="7676970" cy="265361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B07BCA5-DB48-4DE5-94E6-F95F6DCF4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420" y="3812271"/>
            <a:ext cx="4999646" cy="2947768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70A4E6E-4542-4DA1-BB5C-216407DCC6DF}"/>
              </a:ext>
            </a:extLst>
          </p:cNvPr>
          <p:cNvSpPr txBox="1"/>
          <p:nvPr/>
        </p:nvSpPr>
        <p:spPr>
          <a:xfrm>
            <a:off x="282420" y="3542886"/>
            <a:ext cx="319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VIF</a:t>
            </a:r>
            <a:endParaRPr lang="ko-KR" altLang="en-US" b="1" dirty="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E2B66081-F30E-4A63-A1A2-3304DBBF2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383" y="1574105"/>
            <a:ext cx="4522617" cy="5185934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C5D0D02A-57B5-4ACB-B0F8-02DE17BB6632}"/>
              </a:ext>
            </a:extLst>
          </p:cNvPr>
          <p:cNvSpPr/>
          <p:nvPr/>
        </p:nvSpPr>
        <p:spPr>
          <a:xfrm>
            <a:off x="7669382" y="1533465"/>
            <a:ext cx="4522617" cy="40472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화살표: 왼쪽 3">
            <a:extLst>
              <a:ext uri="{FF2B5EF4-FFF2-40B4-BE49-F238E27FC236}">
                <a16:creationId xmlns:a16="http://schemas.microsoft.com/office/drawing/2014/main" id="{45B95B0A-95D3-4CF0-90A3-F0988E72B484}"/>
              </a:ext>
            </a:extLst>
          </p:cNvPr>
          <p:cNvSpPr/>
          <p:nvPr/>
        </p:nvSpPr>
        <p:spPr>
          <a:xfrm>
            <a:off x="5784224" y="5286155"/>
            <a:ext cx="1178560" cy="402703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8BB0F8-BB3C-4B69-B0A9-F83277BE5ED6}"/>
              </a:ext>
            </a:extLst>
          </p:cNvPr>
          <p:cNvSpPr txBox="1"/>
          <p:nvPr/>
        </p:nvSpPr>
        <p:spPr>
          <a:xfrm>
            <a:off x="5382030" y="4747143"/>
            <a:ext cx="198294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Add one by one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0586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 Validation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803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 Validation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DA68AB0-B3A6-4467-A81A-77AF2B08C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20" y="1749393"/>
            <a:ext cx="4540476" cy="16796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3FD3451-F825-4DBC-A332-D76C64462566}"/>
              </a:ext>
            </a:extLst>
          </p:cNvPr>
          <p:cNvSpPr txBox="1"/>
          <p:nvPr/>
        </p:nvSpPr>
        <p:spPr>
          <a:xfrm>
            <a:off x="282420" y="1104545"/>
            <a:ext cx="442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- 2018 is test set, others are train set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93B14-4A6D-48F5-BC72-055617F32D9E}"/>
              </a:ext>
            </a:extLst>
          </p:cNvPr>
          <p:cNvSpPr txBox="1"/>
          <p:nvPr/>
        </p:nvSpPr>
        <p:spPr>
          <a:xfrm>
            <a:off x="6095999" y="1104545"/>
            <a:ext cx="442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Drop feature one by one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53C044-03B5-4C15-B745-E82DC162A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275" y="1749393"/>
            <a:ext cx="5468861" cy="277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07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 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2E303F-E97C-473E-8625-B971D41D629D}"/>
              </a:ext>
            </a:extLst>
          </p:cNvPr>
          <p:cNvSpPr txBox="1"/>
          <p:nvPr/>
        </p:nvSpPr>
        <p:spPr>
          <a:xfrm>
            <a:off x="282420" y="1104545"/>
            <a:ext cx="442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Feature selection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9DF44B-6067-4CAA-AAD3-4BE2C274F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20" y="1533621"/>
            <a:ext cx="2775923" cy="32271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8AB4DA-E9F7-4C8E-843C-7F1FA5111F54}"/>
              </a:ext>
            </a:extLst>
          </p:cNvPr>
          <p:cNvSpPr txBox="1"/>
          <p:nvPr/>
        </p:nvSpPr>
        <p:spPr>
          <a:xfrm>
            <a:off x="762041" y="4820546"/>
            <a:ext cx="1690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Original result</a:t>
            </a:r>
            <a:endParaRPr lang="ko-KR" alt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2879E5B-33A3-4C14-BF21-8681712E4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375" y="1008680"/>
            <a:ext cx="3178892" cy="542530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316FCA7-69DA-4F81-AD65-C5A12D17E8E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748"/>
          <a:stretch/>
        </p:blipFill>
        <p:spPr>
          <a:xfrm>
            <a:off x="6477267" y="1533621"/>
            <a:ext cx="2828925" cy="446485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0BCBB78-1D1C-45A5-B741-10B3EF0E9B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4025" y="1533621"/>
            <a:ext cx="2847975" cy="34671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F5E4D3-4C3E-438C-8C8B-09DF52290A16}"/>
              </a:ext>
            </a:extLst>
          </p:cNvPr>
          <p:cNvSpPr/>
          <p:nvPr/>
        </p:nvSpPr>
        <p:spPr>
          <a:xfrm>
            <a:off x="3339280" y="5227538"/>
            <a:ext cx="3075129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51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 Validation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5A995B-F782-46E6-8E61-499157F31F43}"/>
              </a:ext>
            </a:extLst>
          </p:cNvPr>
          <p:cNvSpPr txBox="1"/>
          <p:nvPr/>
        </p:nvSpPr>
        <p:spPr>
          <a:xfrm>
            <a:off x="282420" y="1104545"/>
            <a:ext cx="4422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Feature selection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D98E77-4D44-4C37-91A4-F3F44F3B08CF}"/>
              </a:ext>
            </a:extLst>
          </p:cNvPr>
          <p:cNvSpPr txBox="1"/>
          <p:nvPr/>
        </p:nvSpPr>
        <p:spPr>
          <a:xfrm>
            <a:off x="762041" y="2964426"/>
            <a:ext cx="16903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Original result</a:t>
            </a:r>
            <a:endParaRPr lang="ko-KR" altLang="en-US" sz="16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43D8ADA-5843-467C-9BB0-0E8DAC786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420" y="1614446"/>
            <a:ext cx="3656908" cy="13499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98D3635-615A-4D8B-BBDD-C3A69F92B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991" y="940750"/>
            <a:ext cx="2895600" cy="460057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182CB58-368C-4D72-8DA3-A0E82D9C7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4127" y="940750"/>
            <a:ext cx="2819400" cy="55721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133C7AF-1B94-4FBC-8794-FF3213304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5991" y="5578939"/>
            <a:ext cx="2771775" cy="1181100"/>
          </a:xfrm>
          <a:prstGeom prst="rect">
            <a:avLst/>
          </a:prstGeom>
        </p:spPr>
      </p:pic>
      <p:sp>
        <p:nvSpPr>
          <p:cNvPr id="17" name="화살표: 왼쪽 16">
            <a:extLst>
              <a:ext uri="{FF2B5EF4-FFF2-40B4-BE49-F238E27FC236}">
                <a16:creationId xmlns:a16="http://schemas.microsoft.com/office/drawing/2014/main" id="{0CF4C7BB-E747-4771-A65E-95FC5A0CD673}"/>
              </a:ext>
            </a:extLst>
          </p:cNvPr>
          <p:cNvSpPr/>
          <p:nvPr/>
        </p:nvSpPr>
        <p:spPr>
          <a:xfrm rot="16200000">
            <a:off x="1863095" y="4113054"/>
            <a:ext cx="1178560" cy="402703"/>
          </a:xfrm>
          <a:prstGeom prst="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0C9EEE-94F4-4D83-962A-7E3A9399B761}"/>
              </a:ext>
            </a:extLst>
          </p:cNvPr>
          <p:cNvSpPr txBox="1"/>
          <p:nvPr/>
        </p:nvSpPr>
        <p:spPr>
          <a:xfrm>
            <a:off x="1367397" y="5058888"/>
            <a:ext cx="2169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Original is better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379820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F86B6AB025FD946AA88059B33794286" ma:contentTypeVersion="8" ma:contentTypeDescription="새 문서를 만듭니다." ma:contentTypeScope="" ma:versionID="5b7aa5fa3a4c9605098d49df0828f476">
  <xsd:schema xmlns:xsd="http://www.w3.org/2001/XMLSchema" xmlns:xs="http://www.w3.org/2001/XMLSchema" xmlns:p="http://schemas.microsoft.com/office/2006/metadata/properties" xmlns:ns3="422125d0-3ff9-452c-b9a8-0b8ee2d6da71" targetNamespace="http://schemas.microsoft.com/office/2006/metadata/properties" ma:root="true" ma:fieldsID="8b3264b5481bb6f9713b22ea59c80532" ns3:_="">
    <xsd:import namespace="422125d0-3ff9-452c-b9a8-0b8ee2d6da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25d0-3ff9-452c-b9a8-0b8ee2d6da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AB5909-3CC7-4E53-8363-E9CBC45918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3C22AD-F528-4A7B-9F37-4411BE02E004}">
  <ds:schemaRefs>
    <ds:schemaRef ds:uri="http://purl.org/dc/dcmitype/"/>
    <ds:schemaRef ds:uri="http://purl.org/dc/terms/"/>
    <ds:schemaRef ds:uri="http://purl.org/dc/elements/1.1/"/>
    <ds:schemaRef ds:uri="422125d0-3ff9-452c-b9a8-0b8ee2d6da71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1C51B6A-F233-423E-A6E7-73D923C3E2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2125d0-3ff9-452c-b9a8-0b8ee2d6da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4810</TotalTime>
  <Words>136</Words>
  <Application>Microsoft Office PowerPoint</Application>
  <PresentationFormat>와이드스크린</PresentationFormat>
  <Paragraphs>49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Nanum Gothic</vt:lpstr>
      <vt:lpstr>Nanum Gothic ExtraBold</vt:lpstr>
      <vt:lpstr>나눔바른고딕OTF</vt:lpstr>
      <vt:lpstr>맑은 고딕</vt:lpstr>
      <vt:lpstr>Arial</vt:lpstr>
      <vt:lpstr>Calibri</vt:lpstr>
      <vt:lpstr>Office 테마</vt:lpstr>
      <vt:lpstr>Business Analytics Project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Sloth</dc:title>
  <dc:creator>Ku Seunghyo</dc:creator>
  <cp:lastModifiedBy>gangmin park</cp:lastModifiedBy>
  <cp:revision>330</cp:revision>
  <dcterms:created xsi:type="dcterms:W3CDTF">2019-04-14T09:23:58Z</dcterms:created>
  <dcterms:modified xsi:type="dcterms:W3CDTF">2019-11-24T07:05:34Z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0x0101004F86B6AB025FD946AA88059B33794286</vt:lpwstr>
  </property>
</Properties>
</file>