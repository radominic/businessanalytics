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74" r:id="rId5"/>
    <p:sldId id="427" r:id="rId6"/>
    <p:sldId id="365" r:id="rId7"/>
    <p:sldId id="406" r:id="rId8"/>
    <p:sldId id="436" r:id="rId9"/>
    <p:sldId id="428" r:id="rId10"/>
    <p:sldId id="429" r:id="rId11"/>
    <p:sldId id="430" r:id="rId12"/>
    <p:sldId id="431" r:id="rId13"/>
    <p:sldId id="432" r:id="rId14"/>
    <p:sldId id="43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70AE47"/>
    <a:srgbClr val="FFF2CC"/>
    <a:srgbClr val="ABD882"/>
    <a:srgbClr val="6EAC46"/>
    <a:srgbClr val="FF9933"/>
    <a:srgbClr val="FFCA4F"/>
    <a:srgbClr val="FF6600"/>
    <a:srgbClr val="469014"/>
    <a:srgbClr val="56B0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6" autoAdjust="0"/>
    <p:restoredTop sz="82824" autoAdjust="0"/>
  </p:normalViewPr>
  <p:slideViewPr>
    <p:cSldViewPr snapToGrid="0" showGuides="1">
      <p:cViewPr varScale="1">
        <p:scale>
          <a:sx n="94" d="100"/>
          <a:sy n="94" d="100"/>
        </p:scale>
        <p:origin x="1584" y="90"/>
      </p:cViewPr>
      <p:guideLst>
        <p:guide orient="horz" pos="2160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03DD46-6924-44BE-9CE5-1101E4E5BF82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CB611-F6DC-4EDD-83C3-516AB6137E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257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CB611-F6DC-4EDD-83C3-516AB6137E6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978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33945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577157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50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42741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1712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54360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FE27D4-75C0-5646-90A9-CB28CF5813FD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6823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C64AE2-B414-40F1-90E8-8DE7965BE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90BA8F-F284-43B4-9805-B73758942E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7058A-959E-4E8B-B8D2-A90500EA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6647C9-5AEB-45D5-A07A-5596931F4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EA807-9BF5-474E-BE83-D17FD0732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1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6BB44-9739-405E-AE14-8C92EC3D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7441CE-A0ED-4DD0-A5E0-C86F608B8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3CC42-6F36-4FE2-9840-05DA9BE0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C07BC-28CF-4426-A407-9DBC1ED5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3EAF9F-69DA-4046-B03B-2A3DB1C8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35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515363-5252-437A-AF6B-092578399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92D324-7CFF-40CE-A256-3CA046F30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B1C708-028D-4D5D-B20E-A11F4056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FDD41E-5C13-47CA-9EE4-32E9E060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96C06-EF82-4022-8C45-CCDDD91F8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45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967983-B8F3-433C-B041-F76E2154D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993055-F811-496B-848F-D3276234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4A7A8DE-4B54-4034-8D37-E93CCF871C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777F8-9330-4339-BAC7-8A465ACD7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E803F0-8225-4287-8512-AC6A9641C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16A4EB-6B81-4DE6-BE58-568A53FC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74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F25F2-3DBC-4588-B95D-2083A362C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D1200F-A5F5-430E-87CF-FB07979140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16FD20-D5C4-4DCA-AF8D-FF14599C8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86A565-01BA-48FC-B88C-25ED237E8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21DBE7-B1B1-4D8D-996A-8548D4DB9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99A8227-63C9-4043-AE81-02FD5D6E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51406AB-BF02-4B17-A689-97D6A1E0C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FAE244-DE09-428A-ACB1-B0815D41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04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BD4AB-A27A-4178-BAA8-895DD495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1E1D48-FFE5-4914-AE0E-919F4F997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29A1324-1C3D-49C8-8170-71BF81B5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5E0CEC-AB72-4AF8-887F-D365C29D9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8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34AB0C-E598-401F-B1EC-821153F7A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CB9641A-CEE9-4A62-A8BC-480CE7056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5DD2C9-4AB8-4D81-8787-5812A93CE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740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5C74D8-1F96-4094-AF54-81A5216D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64FDA-BF34-4AA5-AC76-FBB9708AB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62B58-2F0D-48C2-A58F-760B9AD21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8628EB-35A1-4464-9861-E7A9ABD85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5DB737-4C03-4566-BBF9-8B7542FD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5BE7DF9-9A86-477F-9017-9FEF08998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295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2A332-0323-4E09-A61F-FF270797D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602430B-5D77-43EC-A633-677D2CB825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E9351A-5E87-4239-8B3B-13F639F9C8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10E6C9B-4048-4263-AA7D-0A8B5219D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9CAD72-A062-4D74-AE2E-3D82BF436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CE1D24-0CCC-4C36-BBE8-C2BE2B74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861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C52E10-A35C-4538-8E0C-93F06440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5651E0-5DAC-482E-9CD8-032656C18D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7CE786-0810-4037-879F-E3592A1E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6A5A2E-8E48-4DA1-B89D-36FC9EFDC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11BE-6850-4575-AEA9-AAF6BBB6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128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B2448F-25F7-4928-855D-6E9393E8DF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07FC98-7BC4-4C92-95A0-3DC4A4000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906BDD-7876-4936-B6B1-4D905ECE1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246E70-1E4E-486B-B358-6962369F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857D6-661E-49C0-A7FB-A17DA126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00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FF7AFA9-3161-49CC-AEEF-E7DD08C65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DBD50-7EC7-4C87-8945-883997E12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3FB83-43A0-4F40-BD6E-3671CEC9C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B812F-BFB0-44FB-901F-5952EA19365C}" type="datetimeFigureOut">
              <a:rPr lang="ko-KR" altLang="en-US" smtClean="0"/>
              <a:t>2019-11-18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B71DA2-0F71-4419-8BF4-AAA28F0F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12206C-EEA2-481A-8891-F8FB081CF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73B1D-6BDD-4547-B037-3843264880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579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37AF7-E3D1-974D-966B-6576DF22E2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7017" y="1505030"/>
            <a:ext cx="10717966" cy="2387600"/>
          </a:xfrm>
        </p:spPr>
        <p:txBody>
          <a:bodyPr anchor="ctr">
            <a:noAutofit/>
          </a:bodyPr>
          <a:lstStyle/>
          <a:p>
            <a:r>
              <a:rPr kumimoji="1" lang="en-US" altLang="ko-KR" sz="5400" b="1" spc="-150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Business Analytics Project</a:t>
            </a:r>
            <a:endParaRPr kumimoji="1" lang="ko-KR" altLang="en-US" sz="5400" b="1" spc="-150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868B10-F4D8-084B-9389-7CC8D80FECDE}"/>
              </a:ext>
            </a:extLst>
          </p:cNvPr>
          <p:cNvCxnSpPr/>
          <p:nvPr/>
        </p:nvCxnSpPr>
        <p:spPr>
          <a:xfrm>
            <a:off x="0" y="750627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7F21173-3E8A-4249-8C1D-F897ADD01C9C}"/>
              </a:ext>
            </a:extLst>
          </p:cNvPr>
          <p:cNvSpPr/>
          <p:nvPr/>
        </p:nvSpPr>
        <p:spPr>
          <a:xfrm>
            <a:off x="0" y="750626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0C282BF2-8F0B-7A41-A48E-9E0A20969515}"/>
              </a:ext>
            </a:extLst>
          </p:cNvPr>
          <p:cNvSpPr txBox="1">
            <a:spLocks/>
          </p:cNvSpPr>
          <p:nvPr/>
        </p:nvSpPr>
        <p:spPr>
          <a:xfrm>
            <a:off x="9171148" y="3133299"/>
            <a:ext cx="1779350" cy="93019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ko-KR" sz="2800" b="1" dirty="0">
                <a:solidFill>
                  <a:schemeClr val="tx2">
                    <a:lumMod val="50000"/>
                  </a:schemeClr>
                </a:solidFill>
                <a:latin typeface="Nanum Gothic ExtraBold" panose="020D0604000000000000" pitchFamily="34" charset="-127"/>
                <a:ea typeface="Nanum Gothic ExtraBold" panose="020D0604000000000000" pitchFamily="34" charset="-127"/>
                <a:cs typeface="Arial" panose="020B0604020202020204" pitchFamily="34" charset="0"/>
              </a:rPr>
              <a:t>Week 4</a:t>
            </a:r>
            <a:endParaRPr kumimoji="1" lang="ko-KR" altLang="en-US" sz="2800" b="1" dirty="0">
              <a:solidFill>
                <a:schemeClr val="tx2">
                  <a:lumMod val="50000"/>
                </a:schemeClr>
              </a:solidFill>
              <a:latin typeface="Nanum Gothic ExtraBold" panose="020D0604000000000000" pitchFamily="34" charset="-127"/>
              <a:ea typeface="Nanum Gothic ExtraBold" panose="020D0604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9C05F84F-2E20-6D4C-8694-3A2546CDE33C}"/>
              </a:ext>
            </a:extLst>
          </p:cNvPr>
          <p:cNvSpPr txBox="1">
            <a:spLocks/>
          </p:cNvSpPr>
          <p:nvPr/>
        </p:nvSpPr>
        <p:spPr>
          <a:xfrm>
            <a:off x="9266663" y="5542258"/>
            <a:ext cx="2834041" cy="113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15146302 Kang,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Euiheyon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  <a:p>
            <a:pPr algn="l"/>
            <a:r>
              <a:rPr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15146304 Ku, Seunghyo</a:t>
            </a:r>
          </a:p>
          <a:p>
            <a:pPr algn="l"/>
            <a:r>
              <a:rPr kumimoji="1" lang="en-US" altLang="ko-KR" sz="1600" b="1" dirty="0">
                <a:ea typeface="HGSSoeiKakugothicUB" panose="020B0400000000000000" pitchFamily="34" charset="-128"/>
                <a:cs typeface="Arial" panose="020B0604020202020204" pitchFamily="34" charset="0"/>
              </a:rPr>
              <a:t>15146312 Park, </a:t>
            </a:r>
            <a:r>
              <a:rPr kumimoji="1" lang="en-US" altLang="ko-KR" sz="1600" b="1" dirty="0" err="1">
                <a:ea typeface="HGSSoeiKakugothicUB" panose="020B0400000000000000" pitchFamily="34" charset="-128"/>
                <a:cs typeface="Arial" panose="020B0604020202020204" pitchFamily="34" charset="0"/>
              </a:rPr>
              <a:t>Gangmin</a:t>
            </a:r>
            <a:endParaRPr kumimoji="1" lang="en-US" altLang="ko-KR" sz="1600" b="1" dirty="0">
              <a:ea typeface="HGSSoeiKakugothicUB" panose="020B04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1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>
            <a:extLst>
              <a:ext uri="{FF2B5EF4-FFF2-40B4-BE49-F238E27FC236}">
                <a16:creationId xmlns:a16="http://schemas.microsoft.com/office/drawing/2014/main" id="{77A814D4-2A9E-F44A-B472-191A5277F24B}"/>
              </a:ext>
            </a:extLst>
          </p:cNvPr>
          <p:cNvSpPr txBox="1"/>
          <p:nvPr/>
        </p:nvSpPr>
        <p:spPr>
          <a:xfrm>
            <a:off x="3855345" y="1596477"/>
            <a:ext cx="3429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Cross Validation</a:t>
            </a: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altLang="zh-CN" sz="3200" b="1" dirty="0">
              <a:solidFill>
                <a:schemeClr val="accent6"/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  <a:p>
            <a:pPr marL="514350" marR="0" lvl="0" indent="-5143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Modeling</a:t>
            </a:r>
          </a:p>
        </p:txBody>
      </p:sp>
      <p:sp>
        <p:nvSpPr>
          <p:cNvPr id="30" name="矩形 8">
            <a:extLst>
              <a:ext uri="{FF2B5EF4-FFF2-40B4-BE49-F238E27FC236}">
                <a16:creationId xmlns:a16="http://schemas.microsoft.com/office/drawing/2014/main" id="{92EE409D-DA8B-E943-A73D-2F41C8415BDC}"/>
              </a:ext>
            </a:extLst>
          </p:cNvPr>
          <p:cNvSpPr/>
          <p:nvPr/>
        </p:nvSpPr>
        <p:spPr>
          <a:xfrm>
            <a:off x="576056" y="578099"/>
            <a:ext cx="1640719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1" name="矩形 33">
            <a:extLst>
              <a:ext uri="{FF2B5EF4-FFF2-40B4-BE49-F238E27FC236}">
                <a16:creationId xmlns:a16="http://schemas.microsoft.com/office/drawing/2014/main" id="{37162FA4-F24C-CF4F-9A38-BA5362BED479}"/>
              </a:ext>
            </a:extLst>
          </p:cNvPr>
          <p:cNvSpPr/>
          <p:nvPr/>
        </p:nvSpPr>
        <p:spPr>
          <a:xfrm>
            <a:off x="1094753" y="1167744"/>
            <a:ext cx="2188803" cy="210549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zh-CN" sz="2800" b="1" dirty="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sym typeface="Arial" panose="020B0604020202020204" pitchFamily="34" charset="0"/>
              </a:rPr>
              <a:t>CONTENTS</a:t>
            </a:r>
            <a:endParaRPr lang="zh-CN" altLang="en-US" sz="2800" b="1" dirty="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  <a:sym typeface="Arial" panose="020B0604020202020204" pitchFamily="34" charset="0"/>
            </a:endParaRPr>
          </a:p>
        </p:txBody>
      </p:sp>
      <p:pic>
        <p:nvPicPr>
          <p:cNvPr id="1026" name="Picture 2" descr="김치, 아이콘, 일러스트, 벡터, 고추">
            <a:extLst>
              <a:ext uri="{FF2B5EF4-FFF2-40B4-BE49-F238E27FC236}">
                <a16:creationId xmlns:a16="http://schemas.microsoft.com/office/drawing/2014/main" id="{BB3D02F4-8028-4D96-B7D1-76783BC2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694850">
            <a:off x="2587128" y="2341246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943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1. Cross Validation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4385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Cross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6373504" y="992446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VIF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EE3FD0-E1AB-4938-B959-DC408BDD9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841" y="1361778"/>
            <a:ext cx="4125554" cy="46385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5DE6321-BCFE-41EE-84D9-2FF2C3DEBD1C}"/>
              </a:ext>
            </a:extLst>
          </p:cNvPr>
          <p:cNvSpPr txBox="1"/>
          <p:nvPr/>
        </p:nvSpPr>
        <p:spPr>
          <a:xfrm>
            <a:off x="812268" y="992446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en-US" altLang="ko-KR" b="1" dirty="0" err="1"/>
              <a:t>moving_average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B1DAF0D-F6D9-4E2D-A0A2-7BFB1EC96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31" y="1534446"/>
            <a:ext cx="4837637" cy="98752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43D535-263A-4CD8-A7E0-E1B2F57B1AEB}"/>
              </a:ext>
            </a:extLst>
          </p:cNvPr>
          <p:cNvSpPr txBox="1"/>
          <p:nvPr/>
        </p:nvSpPr>
        <p:spPr>
          <a:xfrm>
            <a:off x="999431" y="3876125"/>
            <a:ext cx="4693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Predict After 1 week with 7days average </a:t>
            </a:r>
            <a:endParaRPr lang="ko-KR" altLang="en-US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1240EA-C933-4C32-BB41-D87C2FA71E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1" y="2771751"/>
            <a:ext cx="4837637" cy="85459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91E7674-19F1-400F-A00C-3040464BAE54}"/>
              </a:ext>
            </a:extLst>
          </p:cNvPr>
          <p:cNvSpPr/>
          <p:nvPr/>
        </p:nvSpPr>
        <p:spPr>
          <a:xfrm>
            <a:off x="6813841" y="4778477"/>
            <a:ext cx="4125554" cy="12218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AEFC0A-40FF-4EC3-A628-F7DEB35CC9D6}"/>
              </a:ext>
            </a:extLst>
          </p:cNvPr>
          <p:cNvSpPr txBox="1"/>
          <p:nvPr/>
        </p:nvSpPr>
        <p:spPr>
          <a:xfrm>
            <a:off x="812268" y="4497129"/>
            <a:ext cx="3194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en-US" altLang="ko-KR" b="1" dirty="0" err="1"/>
              <a:t>min_max</a:t>
            </a:r>
            <a:endParaRPr lang="ko-KR" altLang="en-US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FB11130-03E2-40DA-9C99-D6B7C0CE8D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31" y="4933498"/>
            <a:ext cx="4837636" cy="112878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454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1. Cross 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06CC60-429C-41D8-AFF6-B730BF0CF0F8}"/>
              </a:ext>
            </a:extLst>
          </p:cNvPr>
          <p:cNvSpPr txBox="1"/>
          <p:nvPr/>
        </p:nvSpPr>
        <p:spPr>
          <a:xfrm>
            <a:off x="271580" y="992446"/>
            <a:ext cx="6101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Using </a:t>
            </a:r>
            <a:r>
              <a:rPr lang="en-US" altLang="ko-KR" b="1" dirty="0" err="1"/>
              <a:t>train_test_split</a:t>
            </a:r>
            <a:r>
              <a:rPr lang="en-US" altLang="ko-KR" b="1" dirty="0"/>
              <a:t>(): 0.6750   (Linear Regression)</a:t>
            </a:r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AC95A73-785F-4B29-9DEC-FECC73225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47" y="1456042"/>
            <a:ext cx="7311531" cy="100644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3F1472F-E4C6-4A24-B49D-305A0854615A}"/>
              </a:ext>
            </a:extLst>
          </p:cNvPr>
          <p:cNvSpPr txBox="1"/>
          <p:nvPr/>
        </p:nvSpPr>
        <p:spPr>
          <a:xfrm>
            <a:off x="271579" y="2873446"/>
            <a:ext cx="7545065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Using K-Fold Algorithm: 0.687 when k is 4  (Linear Regression)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3~20,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4D285DD-BE5B-421E-8318-4E9F0554C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47" y="3839334"/>
            <a:ext cx="4999711" cy="16135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4FE44A1-00C7-4B82-BA2F-D4DBD6579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429001"/>
            <a:ext cx="1720646" cy="322069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4AB980D-2E0A-4D20-A6D8-1760AE729436}"/>
              </a:ext>
            </a:extLst>
          </p:cNvPr>
          <p:cNvSpPr/>
          <p:nvPr/>
        </p:nvSpPr>
        <p:spPr>
          <a:xfrm>
            <a:off x="6095999" y="3944957"/>
            <a:ext cx="1720646" cy="1845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36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">
            <a:extLst>
              <a:ext uri="{FF2B5EF4-FFF2-40B4-BE49-F238E27FC236}">
                <a16:creationId xmlns:a16="http://schemas.microsoft.com/office/drawing/2014/main" id="{601E0D97-DAFA-344B-B290-30ED128B63CE}"/>
              </a:ext>
            </a:extLst>
          </p:cNvPr>
          <p:cNvSpPr txBox="1"/>
          <p:nvPr/>
        </p:nvSpPr>
        <p:spPr>
          <a:xfrm>
            <a:off x="3387969" y="2284936"/>
            <a:ext cx="5416062" cy="2018897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 latinLnBrk="0">
              <a:defRPr/>
            </a:pPr>
            <a:r>
              <a:rPr lang="en-US" altLang="ko-KR" sz="5400" b="1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+mn-ea"/>
                <a:sym typeface="Calibri" panose="020F0502020204030204" pitchFamily="34" charset="0"/>
              </a:rPr>
              <a:t>2. Modeling</a:t>
            </a:r>
            <a:endParaRPr lang="en-US" altLang="zh-CN" sz="5400" b="1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AAE8E6-9C0A-6B41-9582-A1BE8A207610}"/>
              </a:ext>
            </a:extLst>
          </p:cNvPr>
          <p:cNvSpPr txBox="1"/>
          <p:nvPr/>
        </p:nvSpPr>
        <p:spPr>
          <a:xfrm>
            <a:off x="5275385" y="199206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Connector 5">
            <a:extLst>
              <a:ext uri="{FF2B5EF4-FFF2-40B4-BE49-F238E27FC236}">
                <a16:creationId xmlns:a16="http://schemas.microsoft.com/office/drawing/2014/main" id="{CB3A8313-4A6F-4A4A-848E-CC5A847CE3B7}"/>
              </a:ext>
            </a:extLst>
          </p:cNvPr>
          <p:cNvCxnSpPr/>
          <p:nvPr/>
        </p:nvCxnSpPr>
        <p:spPr>
          <a:xfrm>
            <a:off x="0" y="3438066"/>
            <a:ext cx="9608024" cy="0"/>
          </a:xfrm>
          <a:prstGeom prst="line">
            <a:avLst/>
          </a:prstGeom>
          <a:ln w="127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6">
            <a:extLst>
              <a:ext uri="{FF2B5EF4-FFF2-40B4-BE49-F238E27FC236}">
                <a16:creationId xmlns:a16="http://schemas.microsoft.com/office/drawing/2014/main" id="{C8E03941-2129-440E-B933-F39939171DFC}"/>
              </a:ext>
            </a:extLst>
          </p:cNvPr>
          <p:cNvSpPr/>
          <p:nvPr/>
        </p:nvSpPr>
        <p:spPr>
          <a:xfrm>
            <a:off x="0" y="3438065"/>
            <a:ext cx="6373504" cy="126193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70AE46"/>
              </a:solidFill>
            </a:endParaRPr>
          </a:p>
        </p:txBody>
      </p:sp>
      <p:pic>
        <p:nvPicPr>
          <p:cNvPr id="10" name="Picture 2" descr="김치, 아이콘, 일러스트, 벡터, 고추">
            <a:extLst>
              <a:ext uri="{FF2B5EF4-FFF2-40B4-BE49-F238E27FC236}">
                <a16:creationId xmlns:a16="http://schemas.microsoft.com/office/drawing/2014/main" id="{BC0C207A-C140-4E69-8BA2-261904DEB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3054" b="94784" l="6723" r="60504">
                        <a14:foregroundMark x1="54308" y1="63692" x2="52615" y2="74154"/>
                        <a14:foregroundMark x1="58923" y1="64769" x2="59692" y2="72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7838" r="59634"/>
          <a:stretch/>
        </p:blipFill>
        <p:spPr bwMode="auto">
          <a:xfrm rot="999380">
            <a:off x="8870896" y="2027621"/>
            <a:ext cx="1384478" cy="1789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4803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Modeling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F1472F-E4C6-4A24-B49D-305A0854615A}"/>
              </a:ext>
            </a:extLst>
          </p:cNvPr>
          <p:cNvSpPr txBox="1"/>
          <p:nvPr/>
        </p:nvSpPr>
        <p:spPr>
          <a:xfrm>
            <a:off x="225860" y="1321138"/>
            <a:ext cx="5289771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Linear Regression : 0.6825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960255-F084-4EA8-9E14-B5E73571B678}"/>
              </a:ext>
            </a:extLst>
          </p:cNvPr>
          <p:cNvSpPr txBox="1"/>
          <p:nvPr/>
        </p:nvSpPr>
        <p:spPr>
          <a:xfrm>
            <a:off x="225860" y="3973686"/>
            <a:ext cx="649498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</a:t>
            </a:r>
            <a:r>
              <a:rPr lang="en-US" altLang="ko-KR" b="1" dirty="0" err="1"/>
              <a:t>KNeighborsRegression</a:t>
            </a:r>
            <a:r>
              <a:rPr lang="en-US" altLang="ko-KR" b="1" dirty="0"/>
              <a:t> : 0.9249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 neighbor=5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C6DE4A-6838-4E12-9970-26ECE38A6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53" y="2381250"/>
            <a:ext cx="6153150" cy="1378506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7DD440-AA01-4C3E-B25A-B024ADC55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53" y="5119153"/>
            <a:ext cx="6189030" cy="1332447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9807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Modeling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F1472F-E4C6-4A24-B49D-305A0854615A}"/>
              </a:ext>
            </a:extLst>
          </p:cNvPr>
          <p:cNvSpPr txBox="1"/>
          <p:nvPr/>
        </p:nvSpPr>
        <p:spPr>
          <a:xfrm>
            <a:off x="225860" y="1321138"/>
            <a:ext cx="8700970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Support Vector Regression : 0.6385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 , degree=2, c=5, epsilon=0.1)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960255-F084-4EA8-9E14-B5E73571B678}"/>
              </a:ext>
            </a:extLst>
          </p:cNvPr>
          <p:cNvSpPr txBox="1"/>
          <p:nvPr/>
        </p:nvSpPr>
        <p:spPr>
          <a:xfrm>
            <a:off x="225860" y="4100766"/>
            <a:ext cx="691041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Linear Support Vector regression : 0.6725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 </a:t>
            </a:r>
            <a:r>
              <a:rPr lang="en-US" altLang="ko-KR" dirty="0" err="1"/>
              <a:t>max_iter</a:t>
            </a:r>
            <a:r>
              <a:rPr lang="en-US" altLang="ko-KR" dirty="0"/>
              <a:t> =1000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430737-D6F2-4751-AB33-580AD82E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53" y="2281429"/>
            <a:ext cx="6318571" cy="1692257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7174EB-8400-491F-9060-5C4F0B51D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253" y="5033396"/>
            <a:ext cx="5544210" cy="1357243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033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Modeling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77BEE-5D8F-4D66-89E7-69DCF4AFA7E6}"/>
              </a:ext>
            </a:extLst>
          </p:cNvPr>
          <p:cNvSpPr txBox="1"/>
          <p:nvPr/>
        </p:nvSpPr>
        <p:spPr>
          <a:xfrm>
            <a:off x="260150" y="1289211"/>
            <a:ext cx="691041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Random Forest Regression : 0.8139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 </a:t>
            </a:r>
            <a:r>
              <a:rPr lang="en-US" altLang="ko-KR" dirty="0" err="1"/>
              <a:t>max_depth</a:t>
            </a:r>
            <a:r>
              <a:rPr lang="en-US" altLang="ko-KR" dirty="0"/>
              <a:t> =5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3C467-F303-42A1-9A8D-84B5E1F4C3ED}"/>
              </a:ext>
            </a:extLst>
          </p:cNvPr>
          <p:cNvSpPr txBox="1"/>
          <p:nvPr/>
        </p:nvSpPr>
        <p:spPr>
          <a:xfrm>
            <a:off x="260150" y="3657755"/>
            <a:ext cx="691041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Light GBM Regression: 0.8912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85558EF-2174-457C-B271-3731ABA9F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1" y="2318532"/>
            <a:ext cx="5086458" cy="1166968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8E21D0A-221D-4D70-B39B-5329BBDBD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371" y="4825839"/>
            <a:ext cx="5086458" cy="767396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59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Modeling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039AE-D212-488F-A27B-454C10745431}"/>
              </a:ext>
            </a:extLst>
          </p:cNvPr>
          <p:cNvSpPr txBox="1"/>
          <p:nvPr/>
        </p:nvSpPr>
        <p:spPr>
          <a:xfrm>
            <a:off x="214430" y="3708401"/>
            <a:ext cx="691041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Gradient Boosting Regression: 0.8610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  </a:t>
            </a: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358C2-06C9-424F-909B-D3A83AB8C4BB}"/>
              </a:ext>
            </a:extLst>
          </p:cNvPr>
          <p:cNvSpPr txBox="1"/>
          <p:nvPr/>
        </p:nvSpPr>
        <p:spPr>
          <a:xfrm>
            <a:off x="343360" y="1289211"/>
            <a:ext cx="6910418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/>
              <a:t>- Decision Tree Regression : 0.7757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K = 4, shuffle = True, </a:t>
            </a:r>
            <a:r>
              <a:rPr lang="en-US" altLang="ko-KR" dirty="0" err="1"/>
              <a:t>random_state</a:t>
            </a:r>
            <a:r>
              <a:rPr lang="en-US" altLang="ko-KR" dirty="0"/>
              <a:t> = 100,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162351-243A-4F08-81B7-0C541CC26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82" y="4898317"/>
            <a:ext cx="5428054" cy="1266097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671E3E-E0B5-4DCB-82FC-683DCEB38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82" y="2331000"/>
            <a:ext cx="4635477" cy="1283137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0015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5">
            <a:extLst>
              <a:ext uri="{FF2B5EF4-FFF2-40B4-BE49-F238E27FC236}">
                <a16:creationId xmlns:a16="http://schemas.microsoft.com/office/drawing/2014/main" id="{9C2AE5D3-552F-504E-A0A2-F60FB9EECE08}"/>
              </a:ext>
            </a:extLst>
          </p:cNvPr>
          <p:cNvCxnSpPr>
            <a:cxnSpLocks/>
          </p:cNvCxnSpPr>
          <p:nvPr/>
        </p:nvCxnSpPr>
        <p:spPr>
          <a:xfrm flipV="1">
            <a:off x="0" y="693585"/>
            <a:ext cx="11674136" cy="2"/>
          </a:xfrm>
          <a:prstGeom prst="line">
            <a:avLst/>
          </a:prstGeom>
          <a:ln w="12700">
            <a:solidFill>
              <a:srgbClr val="70AE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6">
            <a:extLst>
              <a:ext uri="{FF2B5EF4-FFF2-40B4-BE49-F238E27FC236}">
                <a16:creationId xmlns:a16="http://schemas.microsoft.com/office/drawing/2014/main" id="{4AFFB448-6F69-0646-982F-E2EC1AC5D828}"/>
              </a:ext>
            </a:extLst>
          </p:cNvPr>
          <p:cNvSpPr/>
          <p:nvPr/>
        </p:nvSpPr>
        <p:spPr>
          <a:xfrm>
            <a:off x="0" y="693585"/>
            <a:ext cx="6373504" cy="126193"/>
          </a:xfrm>
          <a:prstGeom prst="rect">
            <a:avLst/>
          </a:prstGeom>
          <a:solidFill>
            <a:srgbClr val="70AE47"/>
          </a:solidFill>
          <a:ln w="9525">
            <a:solidFill>
              <a:srgbClr val="70AE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1BDBE009-8267-3841-A6A9-6A8D3D829B08}"/>
              </a:ext>
            </a:extLst>
          </p:cNvPr>
          <p:cNvSpPr txBox="1">
            <a:spLocks/>
          </p:cNvSpPr>
          <p:nvPr/>
        </p:nvSpPr>
        <p:spPr>
          <a:xfrm>
            <a:off x="68705" y="97961"/>
            <a:ext cx="6027294" cy="62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defRPr/>
            </a:pPr>
            <a:r>
              <a:rPr lang="en-US" altLang="zh-C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 Gothic" panose="020D0604000000000000" pitchFamily="34" charset="-127"/>
                <a:ea typeface="Nanum Gothic" panose="020D0604000000000000" pitchFamily="34" charset="-127"/>
                <a:cs typeface="+mn-ea"/>
                <a:sym typeface="Calibri" panose="020F0502020204030204" pitchFamily="34" charset="0"/>
              </a:rPr>
              <a:t>2. Modeling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36DF1C-557B-45A0-BF90-8FD70A7F649A}"/>
              </a:ext>
            </a:extLst>
          </p:cNvPr>
          <p:cNvSpPr txBox="1"/>
          <p:nvPr/>
        </p:nvSpPr>
        <p:spPr>
          <a:xfrm>
            <a:off x="5719892" y="2363867"/>
            <a:ext cx="52043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dirty="0" err="1"/>
              <a:t>Kneighbors_Regression</a:t>
            </a:r>
            <a:endParaRPr lang="en-US" altLang="ko-KR" dirty="0"/>
          </a:p>
          <a:p>
            <a:pPr algn="just"/>
            <a:endParaRPr lang="en-US" altLang="ko-KR" dirty="0"/>
          </a:p>
          <a:p>
            <a:pPr algn="just"/>
            <a:r>
              <a:rPr lang="en-US" altLang="ko-KR" dirty="0"/>
              <a:t>Light Gradient Boosting Machine Regression</a:t>
            </a:r>
          </a:p>
          <a:p>
            <a:pPr algn="just"/>
            <a:endParaRPr lang="en-US" altLang="ko-KR" dirty="0"/>
          </a:p>
          <a:p>
            <a:pPr algn="just"/>
            <a:r>
              <a:rPr lang="en-US" altLang="ko-KR" dirty="0"/>
              <a:t>Gradient Boosting Machine Regression</a:t>
            </a:r>
          </a:p>
          <a:p>
            <a:pPr algn="just"/>
            <a:endParaRPr lang="en-US" altLang="ko-KR" dirty="0"/>
          </a:p>
          <a:p>
            <a:pPr algn="just"/>
            <a:r>
              <a:rPr lang="en-US" altLang="ko-KR" dirty="0"/>
              <a:t>Random Forest Regression</a:t>
            </a:r>
            <a:endParaRPr lang="ko-KR" altLang="en-US" dirty="0"/>
          </a:p>
          <a:p>
            <a:pPr algn="just"/>
            <a:endParaRPr lang="en-US" altLang="ko-KR" dirty="0"/>
          </a:p>
          <a:p>
            <a:pPr algn="just"/>
            <a:r>
              <a:rPr lang="en-US" altLang="ko-KR" dirty="0" err="1"/>
              <a:t>DecisionTree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38ECCB-FCFC-4E67-BF86-5DF48B3A2B80}"/>
              </a:ext>
            </a:extLst>
          </p:cNvPr>
          <p:cNvSpPr txBox="1"/>
          <p:nvPr/>
        </p:nvSpPr>
        <p:spPr>
          <a:xfrm>
            <a:off x="7463790" y="1576798"/>
            <a:ext cx="2556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Top - 5 Model</a:t>
            </a:r>
            <a:endParaRPr lang="ko-KR" alt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852A3-E029-406B-913D-E6C293E752BA}"/>
              </a:ext>
            </a:extLst>
          </p:cNvPr>
          <p:cNvSpPr txBox="1"/>
          <p:nvPr/>
        </p:nvSpPr>
        <p:spPr>
          <a:xfrm>
            <a:off x="10709910" y="2388870"/>
            <a:ext cx="9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92.4 </a:t>
            </a:r>
            <a:r>
              <a:rPr lang="en-US" altLang="ko-KR" dirty="0"/>
              <a:t>%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F660C4-A259-4A5C-9AD7-B39D362A1109}"/>
              </a:ext>
            </a:extLst>
          </p:cNvPr>
          <p:cNvSpPr txBox="1"/>
          <p:nvPr/>
        </p:nvSpPr>
        <p:spPr>
          <a:xfrm>
            <a:off x="10709910" y="2930366"/>
            <a:ext cx="9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89.1 </a:t>
            </a:r>
            <a:r>
              <a:rPr lang="en-US" altLang="ko-KR" dirty="0"/>
              <a:t>%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FD534-EF59-4847-B8D8-81FB405BAA97}"/>
              </a:ext>
            </a:extLst>
          </p:cNvPr>
          <p:cNvSpPr txBox="1"/>
          <p:nvPr/>
        </p:nvSpPr>
        <p:spPr>
          <a:xfrm>
            <a:off x="10709910" y="3471862"/>
            <a:ext cx="9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86.1 </a:t>
            </a:r>
            <a:r>
              <a:rPr lang="en-US" altLang="ko-KR" dirty="0"/>
              <a:t>%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128CAF-964F-4BAC-B871-857FCB57D1B3}"/>
              </a:ext>
            </a:extLst>
          </p:cNvPr>
          <p:cNvSpPr txBox="1"/>
          <p:nvPr/>
        </p:nvSpPr>
        <p:spPr>
          <a:xfrm>
            <a:off x="10709910" y="4013358"/>
            <a:ext cx="9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81.3 </a:t>
            </a:r>
            <a:r>
              <a:rPr lang="en-US" altLang="ko-KR" dirty="0"/>
              <a:t>%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46A66-1897-453F-BF6B-E5D56EAEE3E2}"/>
              </a:ext>
            </a:extLst>
          </p:cNvPr>
          <p:cNvSpPr txBox="1"/>
          <p:nvPr/>
        </p:nvSpPr>
        <p:spPr>
          <a:xfrm>
            <a:off x="10709910" y="4554854"/>
            <a:ext cx="982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77.5 </a:t>
            </a:r>
            <a:r>
              <a:rPr lang="en-US" altLang="ko-KR" dirty="0"/>
              <a:t>%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78AD03-88CA-45F0-888A-0D80D895BE16}"/>
              </a:ext>
            </a:extLst>
          </p:cNvPr>
          <p:cNvSpPr/>
          <p:nvPr/>
        </p:nvSpPr>
        <p:spPr>
          <a:xfrm>
            <a:off x="5314951" y="2146931"/>
            <a:ext cx="6526530" cy="30646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5D69E7B-01DF-47AA-B183-84E361436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19" y="2524839"/>
            <a:ext cx="4654270" cy="2263378"/>
          </a:xfrm>
          <a:prstGeom prst="rect">
            <a:avLst/>
          </a:prstGeom>
          <a:ln w="285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959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F86B6AB025FD946AA88059B33794286" ma:contentTypeVersion="8" ma:contentTypeDescription="새 문서를 만듭니다." ma:contentTypeScope="" ma:versionID="5b7aa5fa3a4c9605098d49df0828f476">
  <xsd:schema xmlns:xsd="http://www.w3.org/2001/XMLSchema" xmlns:xs="http://www.w3.org/2001/XMLSchema" xmlns:p="http://schemas.microsoft.com/office/2006/metadata/properties" xmlns:ns3="422125d0-3ff9-452c-b9a8-0b8ee2d6da71" targetNamespace="http://schemas.microsoft.com/office/2006/metadata/properties" ma:root="true" ma:fieldsID="8b3264b5481bb6f9713b22ea59c80532" ns3:_="">
    <xsd:import namespace="422125d0-3ff9-452c-b9a8-0b8ee2d6da7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2125d0-3ff9-452c-b9a8-0b8ee2d6da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DAB5909-3CC7-4E53-8363-E9CBC45918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C51B6A-F233-423E-A6E7-73D923C3E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2125d0-3ff9-452c-b9a8-0b8ee2d6da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3C22AD-F528-4A7B-9F37-4411BE02E004}">
  <ds:schemaRefs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422125d0-3ff9-452c-b9a8-0b8ee2d6da71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4679</TotalTime>
  <Words>336</Words>
  <Application>Microsoft Office PowerPoint</Application>
  <PresentationFormat>와이드스크린</PresentationFormat>
  <Paragraphs>64</Paragraphs>
  <Slides>11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Nanum Gothic</vt:lpstr>
      <vt:lpstr>Nanum Gothic ExtraBold</vt:lpstr>
      <vt:lpstr>나눔바른고딕OTF</vt:lpstr>
      <vt:lpstr>맑은 고딕</vt:lpstr>
      <vt:lpstr>Arial</vt:lpstr>
      <vt:lpstr>Calibri</vt:lpstr>
      <vt:lpstr>Office 테마</vt:lpstr>
      <vt:lpstr>Business Analytics Project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Sloth</dc:title>
  <dc:creator>Ku Seunghyo</dc:creator>
  <cp:lastModifiedBy>gangmin park</cp:lastModifiedBy>
  <cp:revision>319</cp:revision>
  <dcterms:created xsi:type="dcterms:W3CDTF">2019-04-14T09:23:58Z</dcterms:created>
  <dcterms:modified xsi:type="dcterms:W3CDTF">2019-11-18T02:59:06Z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0x0101004F86B6AB025FD946AA88059B33794286</vt:lpwstr>
  </property>
</Properties>
</file>