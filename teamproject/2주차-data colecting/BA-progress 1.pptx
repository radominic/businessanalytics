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4" r:id="rId2"/>
    <p:sldId id="427" r:id="rId3"/>
    <p:sldId id="365" r:id="rId4"/>
    <p:sldId id="406" r:id="rId5"/>
    <p:sldId id="432" r:id="rId6"/>
    <p:sldId id="433" r:id="rId7"/>
    <p:sldId id="428" r:id="rId8"/>
    <p:sldId id="275" r:id="rId9"/>
    <p:sldId id="435" r:id="rId10"/>
    <p:sldId id="430" r:id="rId11"/>
    <p:sldId id="436" r:id="rId12"/>
    <p:sldId id="437" r:id="rId13"/>
    <p:sldId id="438" r:id="rId14"/>
    <p:sldId id="434" r:id="rId15"/>
    <p:sldId id="440" r:id="rId16"/>
    <p:sldId id="429" r:id="rId17"/>
    <p:sldId id="439" r:id="rId18"/>
    <p:sldId id="431" r:id="rId19"/>
    <p:sldId id="441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28" autoAdjust="0"/>
    <p:restoredTop sz="94660"/>
  </p:normalViewPr>
  <p:slideViewPr>
    <p:cSldViewPr snapToGrid="0">
      <p:cViewPr varScale="1">
        <p:scale>
          <a:sx n="45" d="100"/>
          <a:sy n="45" d="100"/>
        </p:scale>
        <p:origin x="62" y="8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C27CC-9965-4345-A59E-254249DA5D72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89612-258F-47E8-B745-43BC5B028A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380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CB611-F6DC-4EDD-83C3-516AB6137E6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978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3945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3543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94160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EF177-0F11-4422-8EC1-408CAE8D1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0466B46-ADA2-47C8-AC14-1C4633B48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B6841F-62F0-415A-B063-EDA4CCC54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25DC-1F0C-4C43-98F2-45620C08DD36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AD29C5-A44B-4862-A8C7-A7508CFD0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EA318C-8BA8-4B55-84A3-AC949766E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97C4-C2F9-4502-85E1-D03883AD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636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3AE8E-84F2-4746-A255-93F7E64B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C6683F-41E8-42CF-A9A0-D1CEB3C48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B15888-0E77-457C-A59A-EF881D800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25DC-1F0C-4C43-98F2-45620C08DD36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E44E5A-F011-463C-88C9-DE49FA954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BEC3AD-B587-41C2-A3C1-B7ECE837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97C4-C2F9-4502-85E1-D03883AD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55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75A97-A7A2-41CD-852E-87CEC96D9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7025A6-0CB1-438E-B07F-0B3B2377C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AB5406-58E4-49FE-BCA1-28A471D85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25DC-1F0C-4C43-98F2-45620C08DD36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A590BD-BD07-4BDA-A9F2-520E7BD7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B0FB18-FA5A-4205-AA2C-366E0CD3E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97C4-C2F9-4502-85E1-D03883AD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756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3C34C-47AD-4C37-BD12-19D1941C9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0D5FBB-E326-4E41-8BE7-ED9C8DE245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58D4EA-4855-47D4-B2DB-D7329F09E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43899C-837B-46A1-A55D-F2188C29F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25DC-1F0C-4C43-98F2-45620C08DD36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646147-BD8C-4963-88DF-EFA4F173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3616B1-DED4-42EE-AF4C-136E714A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97C4-C2F9-4502-85E1-D03883AD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05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2C6E2-D19C-4AD1-98DC-61674FD5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905D7A-7C9B-46AA-B4A3-BAA30ED21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D4B68B-634E-494A-AAE6-7B828F6C0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0DAA307-BA63-480D-8865-FFBDC9AD0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AF4E87-87D2-4E5E-9B43-9D794B75F3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F26CD8-E7F7-4FBF-9A2B-5A5D9205F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25DC-1F0C-4C43-98F2-45620C08DD36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D480460-E036-4CD4-8A9C-4F43842FE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93383B-3C8B-4F14-BB7C-C82FBACE9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97C4-C2F9-4502-85E1-D03883AD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561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4E56DD-0993-4BFE-86ED-6D13DBBE5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41F14B-D2CB-4474-99BA-A2C46AE46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25DC-1F0C-4C43-98F2-45620C08DD36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038C98-B79D-4B68-BB54-C82960B38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B266F1-80C8-4C3C-9FCF-86BB0839F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97C4-C2F9-4502-85E1-D03883AD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812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0828B4A-5961-4F2B-A3D8-B3256E58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25DC-1F0C-4C43-98F2-45620C08DD36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9F0E813-CE88-479D-9A1F-03FD0DCAD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0B8CEA-C058-41EA-B42B-9B3112D09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97C4-C2F9-4502-85E1-D03883AD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783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E04B4-370D-40B2-A95A-0E57B8276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30C246-40EC-4B2F-ABEC-C0D943684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A4D832-B4FF-4F8E-8E9D-3E5B88578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CFFFBB-20A1-4FF7-A77B-DC34F4074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25DC-1F0C-4C43-98F2-45620C08DD36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91D13C-2056-404F-A198-98FE53DAB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FB8F0B-81D4-4962-9FBF-5CC81150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97C4-C2F9-4502-85E1-D03883AD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08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5FFD88-7DC1-45BE-91F0-848A81A11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CFAAA3-7E11-465B-92D3-815D9C0BB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53DDD5-3D80-4594-957C-C27E88582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504367-B289-4FBA-9C4D-CAAE18BFD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25DC-1F0C-4C43-98F2-45620C08DD36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89AA01-866F-490E-9B47-4F684953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5ABC58-31ED-444E-AF4E-B5DC7AA74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97C4-C2F9-4502-85E1-D03883AD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732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7AA5FA-E9DA-4643-AAC4-F05173269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2AC5F9-46C3-40F4-9D0D-089C0EB86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300D0-A43A-4953-A13E-2E590DFB8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25DC-1F0C-4C43-98F2-45620C08DD36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F23ECF-088D-4330-8C58-8A364206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C440C1-5B89-4D79-BE15-758CF66C6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97C4-C2F9-4502-85E1-D03883AD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651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2CFC2B-9EB4-4CD0-992A-986B33DCA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25D24A-0EB1-492F-9A7F-9B4431D83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9F4979-128E-4CCE-8781-67B6AA306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25DC-1F0C-4C43-98F2-45620C08DD36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D6179C-ECD3-4CB4-8869-493B92CF2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439F4C-E2D4-4ACA-8290-AE443610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97C4-C2F9-4502-85E1-D03883AD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979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386FB6-F4B5-4723-9BA6-21D132FA7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0AE4C6-83C8-46CE-AFAF-A20DE1BE3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950584-D56A-4E9C-8D44-78651764C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E25DC-1F0C-4C43-98F2-45620C08DD36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06AAA5-50D3-4A19-8236-5487CFF8D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4EECC2-79F7-46A3-9B79-6987E152B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697C4-C2F9-4502-85E1-D03883AD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86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jpe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37AF7-E3D1-974D-966B-6576DF22E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017" y="1505030"/>
            <a:ext cx="10717966" cy="2387600"/>
          </a:xfrm>
        </p:spPr>
        <p:txBody>
          <a:bodyPr anchor="ctr">
            <a:noAutofit/>
          </a:bodyPr>
          <a:lstStyle/>
          <a:p>
            <a:r>
              <a:rPr kumimoji="1" lang="en-US" altLang="ko-KR" sz="5400" b="1" spc="-150" dirty="0">
                <a:solidFill>
                  <a:schemeClr val="tx2">
                    <a:lumMod val="50000"/>
                  </a:schemeClr>
                </a:solidFill>
                <a:latin typeface="Nanum Gothic ExtraBold" panose="020D0604000000000000" pitchFamily="34" charset="-127"/>
                <a:ea typeface="Nanum Gothic ExtraBold" panose="020D0604000000000000" pitchFamily="34" charset="-127"/>
                <a:cs typeface="Arial" panose="020B0604020202020204" pitchFamily="34" charset="0"/>
              </a:rPr>
              <a:t>Business Analytics Project</a:t>
            </a:r>
            <a:endParaRPr kumimoji="1" lang="ko-KR" altLang="en-US" sz="5400" b="1" spc="-150" dirty="0">
              <a:solidFill>
                <a:schemeClr val="tx2">
                  <a:lumMod val="50000"/>
                </a:schemeClr>
              </a:solidFill>
              <a:latin typeface="Nanum Gothic ExtraBold" panose="020D0604000000000000" pitchFamily="34" charset="-127"/>
              <a:ea typeface="Nanum Gothic ExtraBold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868B10-F4D8-084B-9389-7CC8D80FECDE}"/>
              </a:ext>
            </a:extLst>
          </p:cNvPr>
          <p:cNvCxnSpPr/>
          <p:nvPr/>
        </p:nvCxnSpPr>
        <p:spPr>
          <a:xfrm>
            <a:off x="0" y="750627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7F21173-3E8A-4249-8C1D-F897ADD01C9C}"/>
              </a:ext>
            </a:extLst>
          </p:cNvPr>
          <p:cNvSpPr/>
          <p:nvPr/>
        </p:nvSpPr>
        <p:spPr>
          <a:xfrm>
            <a:off x="0" y="750626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0C282BF2-8F0B-7A41-A48E-9E0A20969515}"/>
              </a:ext>
            </a:extLst>
          </p:cNvPr>
          <p:cNvSpPr txBox="1">
            <a:spLocks/>
          </p:cNvSpPr>
          <p:nvPr/>
        </p:nvSpPr>
        <p:spPr>
          <a:xfrm>
            <a:off x="9171148" y="3133299"/>
            <a:ext cx="1680354" cy="9301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ko-KR" sz="2800" b="1" dirty="0">
                <a:solidFill>
                  <a:schemeClr val="tx2">
                    <a:lumMod val="50000"/>
                  </a:schemeClr>
                </a:solidFill>
                <a:latin typeface="Nanum Gothic ExtraBold" panose="020D0604000000000000" pitchFamily="34" charset="-127"/>
                <a:ea typeface="Nanum Gothic ExtraBold" panose="020D0604000000000000" pitchFamily="34" charset="-127"/>
                <a:cs typeface="Arial" panose="020B0604020202020204" pitchFamily="34" charset="0"/>
              </a:rPr>
              <a:t> Team</a:t>
            </a:r>
            <a:r>
              <a:rPr kumimoji="1" lang="ko-KR" altLang="en-US" sz="2800" b="1" dirty="0">
                <a:solidFill>
                  <a:schemeClr val="tx2">
                    <a:lumMod val="50000"/>
                  </a:schemeClr>
                </a:solidFill>
                <a:latin typeface="Nanum Gothic ExtraBold" panose="020D0604000000000000" pitchFamily="34" charset="-127"/>
                <a:ea typeface="Nanum Gothic ExtraBold" panose="020D0604000000000000" pitchFamily="34" charset="-127"/>
                <a:cs typeface="Arial" panose="020B0604020202020204" pitchFamily="34" charset="0"/>
              </a:rPr>
              <a:t> </a:t>
            </a:r>
            <a:r>
              <a:rPr kumimoji="1" lang="en-US" altLang="ko-KR" sz="2800" b="1" dirty="0">
                <a:solidFill>
                  <a:schemeClr val="tx2">
                    <a:lumMod val="50000"/>
                  </a:schemeClr>
                </a:solidFill>
                <a:latin typeface="Nanum Gothic ExtraBold" panose="020D0604000000000000" pitchFamily="34" charset="-127"/>
                <a:ea typeface="Nanum Gothic ExtraBold" panose="020D0604000000000000" pitchFamily="34" charset="-127"/>
                <a:cs typeface="Arial" panose="020B0604020202020204" pitchFamily="34" charset="0"/>
              </a:rPr>
              <a:t>7</a:t>
            </a:r>
            <a:endParaRPr kumimoji="1" lang="ko-KR" altLang="en-US" sz="2800" b="1" dirty="0">
              <a:solidFill>
                <a:schemeClr val="tx2">
                  <a:lumMod val="50000"/>
                </a:schemeClr>
              </a:solidFill>
              <a:latin typeface="Nanum Gothic ExtraBold" panose="020D0604000000000000" pitchFamily="34" charset="-127"/>
              <a:ea typeface="Nanum Gothic ExtraBold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9C05F84F-2E20-6D4C-8694-3A2546CDE33C}"/>
              </a:ext>
            </a:extLst>
          </p:cNvPr>
          <p:cNvSpPr txBox="1">
            <a:spLocks/>
          </p:cNvSpPr>
          <p:nvPr/>
        </p:nvSpPr>
        <p:spPr>
          <a:xfrm>
            <a:off x="9266663" y="5542258"/>
            <a:ext cx="2834041" cy="1130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ko-KR" sz="1600" b="1" dirty="0">
                <a:ea typeface="HGSSoeiKakugothicUB" panose="020B0400000000000000" pitchFamily="34" charset="-128"/>
                <a:cs typeface="Arial" panose="020B0604020202020204" pitchFamily="34" charset="0"/>
              </a:rPr>
              <a:t>15146302 Kang, </a:t>
            </a:r>
            <a:r>
              <a:rPr kumimoji="1" lang="en-US" altLang="ko-KR" sz="1600" b="1" dirty="0" err="1">
                <a:ea typeface="HGSSoeiKakugothicUB" panose="020B0400000000000000" pitchFamily="34" charset="-128"/>
                <a:cs typeface="Arial" panose="020B0604020202020204" pitchFamily="34" charset="0"/>
              </a:rPr>
              <a:t>Euiheyon</a:t>
            </a:r>
            <a:endParaRPr kumimoji="1" lang="en-US" altLang="ko-KR" sz="1600" b="1" dirty="0">
              <a:ea typeface="HGSSoeiKakugothicUB" panose="020B0400000000000000" pitchFamily="34" charset="-128"/>
              <a:cs typeface="Arial" panose="020B0604020202020204" pitchFamily="34" charset="0"/>
            </a:endParaRPr>
          </a:p>
          <a:p>
            <a:pPr algn="l"/>
            <a:r>
              <a:rPr lang="en-US" altLang="ko-KR" sz="1600" b="1" dirty="0">
                <a:ea typeface="HGSSoeiKakugothicUB" panose="020B0400000000000000" pitchFamily="34" charset="-128"/>
                <a:cs typeface="Arial" panose="020B0604020202020204" pitchFamily="34" charset="0"/>
              </a:rPr>
              <a:t>15146304 Ku, Seunghyo</a:t>
            </a:r>
          </a:p>
          <a:p>
            <a:pPr algn="l"/>
            <a:r>
              <a:rPr kumimoji="1" lang="en-US" altLang="ko-KR" sz="1600" b="1" dirty="0">
                <a:ea typeface="HGSSoeiKakugothicUB" panose="020B0400000000000000" pitchFamily="34" charset="-128"/>
                <a:cs typeface="Arial" panose="020B0604020202020204" pitchFamily="34" charset="0"/>
              </a:rPr>
              <a:t>15146312 Park, </a:t>
            </a:r>
            <a:r>
              <a:rPr kumimoji="1" lang="en-US" altLang="ko-KR" sz="1600" b="1" dirty="0" err="1">
                <a:ea typeface="HGSSoeiKakugothicUB" panose="020B0400000000000000" pitchFamily="34" charset="-128"/>
                <a:cs typeface="Arial" panose="020B0604020202020204" pitchFamily="34" charset="0"/>
              </a:rPr>
              <a:t>Gangmin</a:t>
            </a:r>
            <a:endParaRPr kumimoji="1" lang="en-US" altLang="ko-KR" sz="1600" b="1" dirty="0">
              <a:ea typeface="HGSSoeiKakugothicUB" panose="020B04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11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>
            <a:extLst>
              <a:ext uri="{FF2B5EF4-FFF2-40B4-BE49-F238E27FC236}">
                <a16:creationId xmlns:a16="http://schemas.microsoft.com/office/drawing/2014/main" id="{77A814D4-2A9E-F44A-B472-191A5277F24B}"/>
              </a:ext>
            </a:extLst>
          </p:cNvPr>
          <p:cNvSpPr txBox="1"/>
          <p:nvPr/>
        </p:nvSpPr>
        <p:spPr>
          <a:xfrm>
            <a:off x="4564471" y="2453015"/>
            <a:ext cx="31888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1. Data Collection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0" name="矩形 8">
            <a:extLst>
              <a:ext uri="{FF2B5EF4-FFF2-40B4-BE49-F238E27FC236}">
                <a16:creationId xmlns:a16="http://schemas.microsoft.com/office/drawing/2014/main" id="{92EE409D-DA8B-E943-A73D-2F41C8415BDC}"/>
              </a:ext>
            </a:extLst>
          </p:cNvPr>
          <p:cNvSpPr/>
          <p:nvPr/>
        </p:nvSpPr>
        <p:spPr>
          <a:xfrm>
            <a:off x="576056" y="578099"/>
            <a:ext cx="1640719" cy="210549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1" name="矩形 33">
            <a:extLst>
              <a:ext uri="{FF2B5EF4-FFF2-40B4-BE49-F238E27FC236}">
                <a16:creationId xmlns:a16="http://schemas.microsoft.com/office/drawing/2014/main" id="{37162FA4-F24C-CF4F-9A38-BA5362BED479}"/>
              </a:ext>
            </a:extLst>
          </p:cNvPr>
          <p:cNvSpPr/>
          <p:nvPr/>
        </p:nvSpPr>
        <p:spPr>
          <a:xfrm>
            <a:off x="1094753" y="1167744"/>
            <a:ext cx="2188803" cy="21054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  <a:sym typeface="Arial" panose="020B0604020202020204" pitchFamily="34" charset="0"/>
              </a:rPr>
              <a:t>CONTENTS</a:t>
            </a:r>
            <a:endParaRPr lang="zh-CN" altLang="en-US" sz="2800" b="1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  <a:sym typeface="Arial" panose="020B0604020202020204" pitchFamily="34" charset="0"/>
            </a:endParaRPr>
          </a:p>
        </p:txBody>
      </p:sp>
      <p:sp>
        <p:nvSpPr>
          <p:cNvPr id="13" name="文本框 4">
            <a:extLst>
              <a:ext uri="{FF2B5EF4-FFF2-40B4-BE49-F238E27FC236}">
                <a16:creationId xmlns:a16="http://schemas.microsoft.com/office/drawing/2014/main" id="{DCD61AF9-8FBF-41E9-A95C-72E1885D9A60}"/>
              </a:ext>
            </a:extLst>
          </p:cNvPr>
          <p:cNvSpPr txBox="1"/>
          <p:nvPr/>
        </p:nvSpPr>
        <p:spPr>
          <a:xfrm>
            <a:off x="4564471" y="3430945"/>
            <a:ext cx="47264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srgbClr val="70AE47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2. Data Merging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3200" b="1" dirty="0">
              <a:solidFill>
                <a:srgbClr val="70AE47"/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srgbClr val="70AE47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3. Further Progress</a:t>
            </a:r>
          </a:p>
        </p:txBody>
      </p:sp>
      <p:pic>
        <p:nvPicPr>
          <p:cNvPr id="1026" name="Picture 2" descr="김치, 아이콘, 일러스트, 벡터, 고추">
            <a:extLst>
              <a:ext uri="{FF2B5EF4-FFF2-40B4-BE49-F238E27FC236}">
                <a16:creationId xmlns:a16="http://schemas.microsoft.com/office/drawing/2014/main" id="{BB3D02F4-8028-4D96-B7D1-76783BC247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694850">
            <a:off x="2587128" y="2341246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943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">
            <a:extLst>
              <a:ext uri="{FF2B5EF4-FFF2-40B4-BE49-F238E27FC236}">
                <a16:creationId xmlns:a16="http://schemas.microsoft.com/office/drawing/2014/main" id="{601E0D97-DAFA-344B-B290-30ED128B63CE}"/>
              </a:ext>
            </a:extLst>
          </p:cNvPr>
          <p:cNvSpPr txBox="1"/>
          <p:nvPr/>
        </p:nvSpPr>
        <p:spPr>
          <a:xfrm>
            <a:off x="3387969" y="2284936"/>
            <a:ext cx="5416062" cy="201889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latinLnBrk="0">
              <a:defRPr/>
            </a:pPr>
            <a:r>
              <a:rPr lang="en-US" altLang="ko-KR" sz="5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1. Data Collection</a:t>
            </a:r>
            <a:endParaRPr lang="en-US" altLang="zh-CN" sz="5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AE8E6-9C0A-6B41-9582-A1BE8A207610}"/>
              </a:ext>
            </a:extLst>
          </p:cNvPr>
          <p:cNvSpPr txBox="1"/>
          <p:nvPr/>
        </p:nvSpPr>
        <p:spPr>
          <a:xfrm>
            <a:off x="5275385" y="19920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CB3A8313-4A6F-4A4A-848E-CC5A847CE3B7}"/>
              </a:ext>
            </a:extLst>
          </p:cNvPr>
          <p:cNvCxnSpPr/>
          <p:nvPr/>
        </p:nvCxnSpPr>
        <p:spPr>
          <a:xfrm>
            <a:off x="0" y="3438066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6">
            <a:extLst>
              <a:ext uri="{FF2B5EF4-FFF2-40B4-BE49-F238E27FC236}">
                <a16:creationId xmlns:a16="http://schemas.microsoft.com/office/drawing/2014/main" id="{C8E03941-2129-440E-B933-F39939171DFC}"/>
              </a:ext>
            </a:extLst>
          </p:cNvPr>
          <p:cNvSpPr/>
          <p:nvPr/>
        </p:nvSpPr>
        <p:spPr>
          <a:xfrm>
            <a:off x="0" y="3438065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pic>
        <p:nvPicPr>
          <p:cNvPr id="10" name="Picture 2" descr="김치, 아이콘, 일러스트, 벡터, 고추">
            <a:extLst>
              <a:ext uri="{FF2B5EF4-FFF2-40B4-BE49-F238E27FC236}">
                <a16:creationId xmlns:a16="http://schemas.microsoft.com/office/drawing/2014/main" id="{BC0C207A-C140-4E69-8BA2-261904DEB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999380">
            <a:off x="8870896" y="2027621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38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Agricultural Product data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E9FD17-CCE2-47F1-A374-12D726EEE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068" y="1321138"/>
            <a:ext cx="2286000" cy="4219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6A7996C-1CB8-49B8-88B9-99A5AA1C9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27" y="1319212"/>
            <a:ext cx="2409825" cy="4219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2562B3-5AE5-4B5C-8B08-2716DEAAB7BC}"/>
              </a:ext>
            </a:extLst>
          </p:cNvPr>
          <p:cNvSpPr txBox="1"/>
          <p:nvPr/>
        </p:nvSpPr>
        <p:spPr>
          <a:xfrm>
            <a:off x="1776565" y="5729520"/>
            <a:ext cx="3112675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/>
              <a:t>Price of cabbage, radish</a:t>
            </a:r>
          </a:p>
          <a:p>
            <a:pPr algn="ctr">
              <a:lnSpc>
                <a:spcPct val="150000"/>
              </a:lnSpc>
            </a:pPr>
            <a:r>
              <a:rPr lang="en-US" altLang="ko-KR" dirty="0"/>
              <a:t>(2015~2018)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3213C7-60C8-49A3-842B-38F34D0E0AA3}"/>
              </a:ext>
            </a:extLst>
          </p:cNvPr>
          <p:cNvSpPr txBox="1"/>
          <p:nvPr/>
        </p:nvSpPr>
        <p:spPr>
          <a:xfrm>
            <a:off x="9955194" y="323104"/>
            <a:ext cx="1968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www.kamis.or.kr</a:t>
            </a:r>
            <a:endParaRPr lang="ko-KR" altLang="en-US" sz="1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97398D7-AB90-40A2-9048-38612B403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193" y="244433"/>
            <a:ext cx="1160884" cy="449152"/>
          </a:xfrm>
          <a:prstGeom prst="rect">
            <a:avLst/>
          </a:prstGeom>
        </p:spPr>
      </p:pic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B4994EA-044C-4553-B722-CED8C8F6A837}"/>
              </a:ext>
            </a:extLst>
          </p:cNvPr>
          <p:cNvSpPr txBox="1"/>
          <p:nvPr/>
        </p:nvSpPr>
        <p:spPr>
          <a:xfrm>
            <a:off x="6590910" y="3051989"/>
            <a:ext cx="4824163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This data set consists of the day-to-day, </a:t>
            </a:r>
            <a:r>
              <a:rPr lang="en-US" altLang="ko-KR" dirty="0">
                <a:solidFill>
                  <a:srgbClr val="FF0000"/>
                </a:solidFill>
                <a:latin typeface="210 앱굴림 R" panose="02020603020101020101" pitchFamily="18" charset="-127"/>
                <a:ea typeface="210 앱굴림 R" panose="02020603020101020101" pitchFamily="18" charset="-127"/>
              </a:rPr>
              <a:t>average wholesale price by region</a:t>
            </a:r>
            <a:r>
              <a:rPr lang="en-US" altLang="ko-KR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, and the </a:t>
            </a:r>
            <a:r>
              <a:rPr lang="en-US" altLang="ko-KR" dirty="0">
                <a:solidFill>
                  <a:srgbClr val="FF0000"/>
                </a:solidFill>
                <a:latin typeface="210 앱굴림 R" panose="02020603020101020101" pitchFamily="18" charset="-127"/>
                <a:ea typeface="210 앱굴림 R" panose="02020603020101020101" pitchFamily="18" charset="-127"/>
              </a:rPr>
              <a:t>average annual price</a:t>
            </a:r>
            <a:r>
              <a:rPr lang="en-US" altLang="ko-KR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.</a:t>
            </a:r>
            <a:endParaRPr lang="ko-KR" altLang="en-US" dirty="0">
              <a:latin typeface="210 앱굴림 R" panose="02020603020101020101" pitchFamily="18" charset="-127"/>
              <a:ea typeface="210 앱굴림 R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F9E70C-70C6-46FE-8E85-686C3C1B7E1F}"/>
              </a:ext>
            </a:extLst>
          </p:cNvPr>
          <p:cNvSpPr txBox="1"/>
          <p:nvPr/>
        </p:nvSpPr>
        <p:spPr>
          <a:xfrm>
            <a:off x="6526542" y="6168423"/>
            <a:ext cx="53974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663" indent="-93663"/>
            <a:r>
              <a:rPr lang="en-US" altLang="ko-KR" sz="1100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* Average annual price excluding maximum and minimum values in the data for the five-year period based on this year's data</a:t>
            </a:r>
            <a:endParaRPr lang="ko-KR" altLang="en-US" sz="1100" dirty="0">
              <a:latin typeface="210 앱굴림 R" panose="02020603020101020101" pitchFamily="18" charset="-127"/>
              <a:ea typeface="210 앱굴림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5449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Agricultural Product data </a:t>
            </a:r>
          </a:p>
        </p:txBody>
      </p:sp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A47E2549-6C29-4623-9E3C-E22721B5D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887" y="1289211"/>
            <a:ext cx="2041169" cy="43910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F8DC94-6511-48A2-9D13-CD5C7E3AC1DA}"/>
              </a:ext>
            </a:extLst>
          </p:cNvPr>
          <p:cNvSpPr txBox="1"/>
          <p:nvPr/>
        </p:nvSpPr>
        <p:spPr>
          <a:xfrm>
            <a:off x="637731" y="5890357"/>
            <a:ext cx="4758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Volume and Price of imported cabbage</a:t>
            </a:r>
          </a:p>
          <a:p>
            <a:pPr algn="ctr"/>
            <a:r>
              <a:rPr lang="en-US" altLang="ko-KR" dirty="0"/>
              <a:t>(2015 – 2018)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F89F4B-DECB-4850-BE8C-022017E58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0828" y="127883"/>
            <a:ext cx="870760" cy="5099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D87A09-1D04-4A9B-A03D-B4E49CDF5EDB}"/>
              </a:ext>
            </a:extLst>
          </p:cNvPr>
          <p:cNvSpPr txBox="1"/>
          <p:nvPr/>
        </p:nvSpPr>
        <p:spPr>
          <a:xfrm>
            <a:off x="10748296" y="323104"/>
            <a:ext cx="1968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Kati.net</a:t>
            </a:r>
            <a:endParaRPr lang="ko-KR" alt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467E9A-8E9D-4862-8F78-AED3D064CFB1}"/>
              </a:ext>
            </a:extLst>
          </p:cNvPr>
          <p:cNvSpPr txBox="1"/>
          <p:nvPr/>
        </p:nvSpPr>
        <p:spPr>
          <a:xfrm>
            <a:off x="6373504" y="3047295"/>
            <a:ext cx="4851223" cy="874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This data set consists of monthly </a:t>
            </a:r>
            <a:r>
              <a:rPr lang="en-US" altLang="ko-KR" dirty="0">
                <a:solidFill>
                  <a:srgbClr val="FF0000"/>
                </a:solidFill>
                <a:latin typeface="210 앱굴림 R" panose="02020603020101020101" pitchFamily="18" charset="-127"/>
                <a:ea typeface="210 앱굴림 R" panose="02020603020101020101" pitchFamily="18" charset="-127"/>
              </a:rPr>
              <a:t>cabbage import volume </a:t>
            </a:r>
            <a:r>
              <a:rPr lang="en-US" altLang="ko-KR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and </a:t>
            </a:r>
            <a:r>
              <a:rPr lang="en-US" altLang="ko-KR" dirty="0">
                <a:solidFill>
                  <a:srgbClr val="FF0000"/>
                </a:solidFill>
                <a:latin typeface="210 앱굴림 R" panose="02020603020101020101" pitchFamily="18" charset="-127"/>
                <a:ea typeface="210 앱굴림 R" panose="02020603020101020101" pitchFamily="18" charset="-127"/>
              </a:rPr>
              <a:t>import price</a:t>
            </a:r>
            <a:r>
              <a:rPr lang="en-US" altLang="ko-KR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.</a:t>
            </a:r>
            <a:endParaRPr lang="ko-KR" altLang="en-US" dirty="0">
              <a:latin typeface="210 앱굴림 R" panose="02020603020101020101" pitchFamily="18" charset="-127"/>
              <a:ea typeface="210 앱굴림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8913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Weather data </a:t>
            </a:r>
          </a:p>
        </p:txBody>
      </p:sp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4BAAF8A-F952-4022-92BD-CC8DD6224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17" y="3108507"/>
            <a:ext cx="3402216" cy="10376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2C001D-D16D-4201-9512-9D7D92EC4F66}"/>
              </a:ext>
            </a:extLst>
          </p:cNvPr>
          <p:cNvSpPr txBox="1"/>
          <p:nvPr/>
        </p:nvSpPr>
        <p:spPr>
          <a:xfrm>
            <a:off x="-160176" y="4798675"/>
            <a:ext cx="4758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Weather data</a:t>
            </a:r>
          </a:p>
          <a:p>
            <a:pPr algn="ctr"/>
            <a:r>
              <a:rPr lang="en-US" altLang="ko-KR" dirty="0"/>
              <a:t>(2015 – 2018)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189839-56AA-4A31-8D54-7EB706DB91E5}"/>
              </a:ext>
            </a:extLst>
          </p:cNvPr>
          <p:cNvSpPr txBox="1"/>
          <p:nvPr/>
        </p:nvSpPr>
        <p:spPr>
          <a:xfrm>
            <a:off x="4942116" y="1694496"/>
            <a:ext cx="6478380" cy="459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This data set consists of</a:t>
            </a: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EBF5B02E-5EF8-47DB-8470-BFEE083F9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972473"/>
              </p:ext>
            </p:extLst>
          </p:nvPr>
        </p:nvGraphicFramePr>
        <p:xfrm>
          <a:off x="4461718" y="2456015"/>
          <a:ext cx="7439176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19588">
                  <a:extLst>
                    <a:ext uri="{9D8B030D-6E8A-4147-A177-3AD203B41FA5}">
                      <a16:colId xmlns:a16="http://schemas.microsoft.com/office/drawing/2014/main" val="3251242121"/>
                    </a:ext>
                  </a:extLst>
                </a:gridCol>
                <a:gridCol w="3719588">
                  <a:extLst>
                    <a:ext uri="{9D8B030D-6E8A-4147-A177-3AD203B41FA5}">
                      <a16:colId xmlns:a16="http://schemas.microsoft.com/office/drawing/2014/main" val="390330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Average Temperature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Lowest Temperature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927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Highest Temperature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Precipitation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72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Wind Speed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Dew Point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747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Relative Humidity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Vapor Pressure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21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Spot Atmospheric Pressure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Seal-level Pressure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19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Duration of Bright Sunshine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Solar Radiation Quantity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175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Maximum Depth of Snow Cover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Maximum Depth of New Snowfall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397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Amount of Cumulus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Average Temperature of Ground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48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Total Low Evaporation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Total Large Evaporation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11126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Amount of Middle and Lower Cloud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79833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8034D6-7019-4E25-91EB-C6B8E839DFCA}"/>
              </a:ext>
            </a:extLst>
          </p:cNvPr>
          <p:cNvSpPr txBox="1"/>
          <p:nvPr/>
        </p:nvSpPr>
        <p:spPr>
          <a:xfrm>
            <a:off x="10002417" y="289249"/>
            <a:ext cx="161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Weather.go.kr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3C3696E-C7E1-4954-A2E9-7B2CC5361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208" y="155437"/>
            <a:ext cx="1887888" cy="47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773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">
            <a:extLst>
              <a:ext uri="{FF2B5EF4-FFF2-40B4-BE49-F238E27FC236}">
                <a16:creationId xmlns:a16="http://schemas.microsoft.com/office/drawing/2014/main" id="{601E0D97-DAFA-344B-B290-30ED128B63CE}"/>
              </a:ext>
            </a:extLst>
          </p:cNvPr>
          <p:cNvSpPr txBox="1"/>
          <p:nvPr/>
        </p:nvSpPr>
        <p:spPr>
          <a:xfrm>
            <a:off x="3387969" y="2284936"/>
            <a:ext cx="5416062" cy="201889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latinLnBrk="0">
              <a:defRPr/>
            </a:pPr>
            <a:r>
              <a:rPr lang="en-US" altLang="ko-KR" sz="5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2. Data Merging</a:t>
            </a:r>
            <a:endParaRPr lang="en-US" altLang="zh-CN" sz="5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AE8E6-9C0A-6B41-9582-A1BE8A207610}"/>
              </a:ext>
            </a:extLst>
          </p:cNvPr>
          <p:cNvSpPr txBox="1"/>
          <p:nvPr/>
        </p:nvSpPr>
        <p:spPr>
          <a:xfrm>
            <a:off x="5275385" y="19920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CB3A8313-4A6F-4A4A-848E-CC5A847CE3B7}"/>
              </a:ext>
            </a:extLst>
          </p:cNvPr>
          <p:cNvCxnSpPr/>
          <p:nvPr/>
        </p:nvCxnSpPr>
        <p:spPr>
          <a:xfrm>
            <a:off x="0" y="3438066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6">
            <a:extLst>
              <a:ext uri="{FF2B5EF4-FFF2-40B4-BE49-F238E27FC236}">
                <a16:creationId xmlns:a16="http://schemas.microsoft.com/office/drawing/2014/main" id="{C8E03941-2129-440E-B933-F39939171DFC}"/>
              </a:ext>
            </a:extLst>
          </p:cNvPr>
          <p:cNvSpPr/>
          <p:nvPr/>
        </p:nvSpPr>
        <p:spPr>
          <a:xfrm>
            <a:off x="0" y="3438065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pic>
        <p:nvPicPr>
          <p:cNvPr id="10" name="Picture 2" descr="김치, 아이콘, 일러스트, 벡터, 고추">
            <a:extLst>
              <a:ext uri="{FF2B5EF4-FFF2-40B4-BE49-F238E27FC236}">
                <a16:creationId xmlns:a16="http://schemas.microsoft.com/office/drawing/2014/main" id="{BC0C207A-C140-4E69-8BA2-261904DEB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999380">
            <a:off x="8870896" y="2027621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230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CFDAE301-EE9F-42C7-93E0-5CF75B39CE97}"/>
              </a:ext>
            </a:extLst>
          </p:cNvPr>
          <p:cNvGrpSpPr/>
          <p:nvPr/>
        </p:nvGrpSpPr>
        <p:grpSpPr>
          <a:xfrm>
            <a:off x="538371" y="1105944"/>
            <a:ext cx="5972448" cy="5431368"/>
            <a:chOff x="529040" y="760711"/>
            <a:chExt cx="5972448" cy="5431368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E66F2E27-A9BD-432E-B0A7-C58A0D8F8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9040" y="760712"/>
              <a:ext cx="1925404" cy="421957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3519A75-D6E7-437F-B1FB-7804C9227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51496" y="760711"/>
              <a:ext cx="1826470" cy="421957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6A44BD8-3A46-443E-AA07-AD70FFF5D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75018" y="760711"/>
              <a:ext cx="1826470" cy="421957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9CC5BB0-DFAA-4A84-83B9-767A695DBA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8344"/>
            <a:stretch/>
          </p:blipFill>
          <p:spPr>
            <a:xfrm>
              <a:off x="2218693" y="5364851"/>
              <a:ext cx="2880081" cy="827228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4D194CF-5ADA-411D-B910-2E2CE17C6E7F}"/>
              </a:ext>
            </a:extLst>
          </p:cNvPr>
          <p:cNvSpPr txBox="1"/>
          <p:nvPr/>
        </p:nvSpPr>
        <p:spPr>
          <a:xfrm>
            <a:off x="7660228" y="3038534"/>
            <a:ext cx="3209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Common key -&gt; </a:t>
            </a:r>
            <a:r>
              <a:rPr lang="en-US" altLang="ko-KR" sz="3200" dirty="0">
                <a:solidFill>
                  <a:srgbClr val="FF0000"/>
                </a:solidFill>
                <a:latin typeface="210 앱굴림 R" panose="02020603020101020101" pitchFamily="18" charset="-127"/>
                <a:ea typeface="210 앱굴림 R" panose="02020603020101020101" pitchFamily="18" charset="-127"/>
              </a:rPr>
              <a:t>Date</a:t>
            </a:r>
            <a:endParaRPr lang="ko-KR" altLang="en-US" dirty="0">
              <a:solidFill>
                <a:srgbClr val="FF0000"/>
              </a:solidFill>
              <a:latin typeface="210 앱굴림 R" panose="02020603020101020101" pitchFamily="18" charset="-127"/>
              <a:ea typeface="210 앱굴림 R" panose="02020603020101020101" pitchFamily="18" charset="-127"/>
            </a:endParaRP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45D65848-835E-4C21-8193-7AEEA8049C97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3E4CBD5D-8484-4EC7-A083-7B80CDF7C4B3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850A42-D2EB-45B1-9C2A-1DC5F28BF9EF}"/>
              </a:ext>
            </a:extLst>
          </p:cNvPr>
          <p:cNvSpPr txBox="1"/>
          <p:nvPr/>
        </p:nvSpPr>
        <p:spPr>
          <a:xfrm>
            <a:off x="213049" y="176585"/>
            <a:ext cx="3415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Finding common key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67689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EC4E003-6F64-440D-904E-608DF2987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45" y="1240777"/>
            <a:ext cx="9525000" cy="3219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23FCE4-C592-4ABF-8274-DB6DBF3E59E2}"/>
              </a:ext>
            </a:extLst>
          </p:cNvPr>
          <p:cNvSpPr txBox="1"/>
          <p:nvPr/>
        </p:nvSpPr>
        <p:spPr>
          <a:xfrm>
            <a:off x="952500" y="5066523"/>
            <a:ext cx="10436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1.  Load the datasets (Weather, Radish, Cabbage, Imported Cabbage in 2015-2018)</a:t>
            </a:r>
            <a:endParaRPr lang="ko-KR" altLang="en-US" sz="2000" dirty="0">
              <a:latin typeface="210 앱굴림 R" panose="02020603020101020101" pitchFamily="18" charset="-127"/>
              <a:ea typeface="210 앱굴림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4700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8B4ABBB-B180-483F-B9E2-EC0547DED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05" y="436455"/>
            <a:ext cx="3780647" cy="24093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36209CA-7CD4-4A19-9D09-FFD0770DD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430" y="436455"/>
            <a:ext cx="7255565" cy="22002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DDEF231-B2F1-409A-B34E-D49838A5C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5667863" cy="23093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C0A91BC0-A848-4B86-86CC-AB962BB462DB}"/>
              </a:ext>
            </a:extLst>
          </p:cNvPr>
          <p:cNvSpPr/>
          <p:nvPr/>
        </p:nvSpPr>
        <p:spPr>
          <a:xfrm>
            <a:off x="4170784" y="1194318"/>
            <a:ext cx="419877" cy="64381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303F5BAA-6A96-4770-A7CD-7EE7E942F9EB}"/>
              </a:ext>
            </a:extLst>
          </p:cNvPr>
          <p:cNvSpPr/>
          <p:nvPr/>
        </p:nvSpPr>
        <p:spPr>
          <a:xfrm>
            <a:off x="8733453" y="2845837"/>
            <a:ext cx="914400" cy="410547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DB3BD6-F693-473E-885C-42149B44111A}"/>
              </a:ext>
            </a:extLst>
          </p:cNvPr>
          <p:cNvSpPr txBox="1"/>
          <p:nvPr/>
        </p:nvSpPr>
        <p:spPr>
          <a:xfrm>
            <a:off x="428137" y="5187821"/>
            <a:ext cx="5243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2.  Make Date in imported cabbage data</a:t>
            </a:r>
            <a:endParaRPr lang="ko-KR" altLang="en-US" sz="2000" dirty="0">
              <a:latin typeface="210 앱굴림 R" panose="02020603020101020101" pitchFamily="18" charset="-127"/>
              <a:ea typeface="210 앱굴림 R" panose="0202060302010102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7AE7344-095E-497A-B22C-F1672A14B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92" y="3098638"/>
            <a:ext cx="4002477" cy="3154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FD27767-8E10-4ED1-9376-95EF241683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252" y="6101112"/>
            <a:ext cx="4651798" cy="3204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8423D977-64E4-4F80-A5C8-C2FAF8819E5A}"/>
              </a:ext>
            </a:extLst>
          </p:cNvPr>
          <p:cNvSpPr/>
          <p:nvPr/>
        </p:nvSpPr>
        <p:spPr>
          <a:xfrm>
            <a:off x="10683550" y="5968332"/>
            <a:ext cx="559838" cy="5809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789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05FE927-3496-4005-A42D-941887E99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362" y="1183529"/>
            <a:ext cx="7138113" cy="5619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7A43B0F0-EE70-4986-96CC-7513CDB3BF43}"/>
              </a:ext>
            </a:extLst>
          </p:cNvPr>
          <p:cNvGrpSpPr/>
          <p:nvPr/>
        </p:nvGrpSpPr>
        <p:grpSpPr>
          <a:xfrm>
            <a:off x="435524" y="498409"/>
            <a:ext cx="2690231" cy="4210050"/>
            <a:chOff x="435524" y="498409"/>
            <a:chExt cx="2886076" cy="421005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F2D4C3B-D6D8-4ADF-9170-53231F570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525" y="498409"/>
              <a:ext cx="2886075" cy="140970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A20244E-E4EC-4353-9040-C89BDAE05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5524" y="3308284"/>
              <a:ext cx="2886074" cy="140017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A4EEA4F-EE96-4F4A-B497-F3E2ABE88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5524" y="1908109"/>
              <a:ext cx="2886075" cy="139065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329F329D-9526-418E-88C2-48A3DF7A3219}"/>
              </a:ext>
            </a:extLst>
          </p:cNvPr>
          <p:cNvSpPr/>
          <p:nvPr/>
        </p:nvSpPr>
        <p:spPr>
          <a:xfrm>
            <a:off x="3545633" y="1129004"/>
            <a:ext cx="718457" cy="6344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3212422-3836-4C6C-9170-B3BEA73A1893}"/>
              </a:ext>
            </a:extLst>
          </p:cNvPr>
          <p:cNvGrpSpPr/>
          <p:nvPr/>
        </p:nvGrpSpPr>
        <p:grpSpPr>
          <a:xfrm>
            <a:off x="6394967" y="3450865"/>
            <a:ext cx="2914650" cy="1092700"/>
            <a:chOff x="6394967" y="3450865"/>
            <a:chExt cx="2914650" cy="10927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CAAC02B-5E4A-4E6C-AF67-20B528C36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94967" y="3450865"/>
              <a:ext cx="2914650" cy="3143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CA25585-739C-4409-BC7B-B489C00D7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4967" y="4191140"/>
              <a:ext cx="2914650" cy="3524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A4F45B6-7DF6-4D08-900A-FB2AFB059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94967" y="3803019"/>
              <a:ext cx="2914650" cy="3524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C4A478B5-7A32-4977-96DD-6A1F0226C0FB}"/>
              </a:ext>
            </a:extLst>
          </p:cNvPr>
          <p:cNvSpPr/>
          <p:nvPr/>
        </p:nvSpPr>
        <p:spPr>
          <a:xfrm>
            <a:off x="7697755" y="2218692"/>
            <a:ext cx="877078" cy="737118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EAB3C-2E75-4804-AE6C-095A04794039}"/>
              </a:ext>
            </a:extLst>
          </p:cNvPr>
          <p:cNvSpPr txBox="1"/>
          <p:nvPr/>
        </p:nvSpPr>
        <p:spPr>
          <a:xfrm>
            <a:off x="3384679" y="5728996"/>
            <a:ext cx="59249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3.  Integrate whole year data as one data set</a:t>
            </a:r>
            <a:endParaRPr lang="ko-KR" altLang="en-US" sz="2000" dirty="0">
              <a:latin typeface="210 앱굴림 R" panose="02020603020101020101" pitchFamily="18" charset="-127"/>
              <a:ea typeface="210 앱굴림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7691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06DF804-B727-4CDB-A9DF-68F870011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191" y="310872"/>
            <a:ext cx="7553618" cy="16832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C268C0-FB7D-47A1-8DA9-86E60BD68A48}"/>
              </a:ext>
            </a:extLst>
          </p:cNvPr>
          <p:cNvSpPr txBox="1"/>
          <p:nvPr/>
        </p:nvSpPr>
        <p:spPr>
          <a:xfrm>
            <a:off x="3489650" y="5715489"/>
            <a:ext cx="59249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4.  Make ‘Days’ on imported cabbage data</a:t>
            </a:r>
            <a:endParaRPr lang="ko-KR" altLang="en-US" sz="2000" dirty="0">
              <a:latin typeface="210 앱굴림 R" panose="02020603020101020101" pitchFamily="18" charset="-127"/>
              <a:ea typeface="210 앱굴림 R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66A4F9-C90E-45EF-9C85-87B41B31A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74" y="2817508"/>
            <a:ext cx="4409395" cy="22746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B927B40-2022-4BF4-8E0C-B132D680B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311" y="2817508"/>
            <a:ext cx="4523015" cy="22746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EE43CE0-0463-4C73-850E-58549063FEAA}"/>
              </a:ext>
            </a:extLst>
          </p:cNvPr>
          <p:cNvSpPr/>
          <p:nvPr/>
        </p:nvSpPr>
        <p:spPr>
          <a:xfrm rot="18971047">
            <a:off x="3191070" y="2170744"/>
            <a:ext cx="597160" cy="47586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AC041A4C-F832-4F54-886B-707624304164}"/>
              </a:ext>
            </a:extLst>
          </p:cNvPr>
          <p:cNvSpPr/>
          <p:nvPr/>
        </p:nvSpPr>
        <p:spPr>
          <a:xfrm rot="2628953" flipV="1">
            <a:off x="8591207" y="2176998"/>
            <a:ext cx="597160" cy="47586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570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746871-F69E-4B7B-ABEF-9C95E4FA4596}"/>
              </a:ext>
            </a:extLst>
          </p:cNvPr>
          <p:cNvSpPr txBox="1"/>
          <p:nvPr/>
        </p:nvSpPr>
        <p:spPr>
          <a:xfrm>
            <a:off x="3489650" y="5715489"/>
            <a:ext cx="59249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5.  Fill the missing value of weather data</a:t>
            </a:r>
            <a:endParaRPr lang="ko-KR" altLang="en-US" sz="2000" dirty="0">
              <a:latin typeface="210 앱굴림 R" panose="02020603020101020101" pitchFamily="18" charset="-127"/>
              <a:ea typeface="210 앱굴림 R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5C28146-7036-4AAE-8167-8B174E6C2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99" y="181849"/>
            <a:ext cx="2931510" cy="4667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27E0196-D80E-456A-9434-6C39C591E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99" y="1344396"/>
            <a:ext cx="2931510" cy="32767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6122FC9-B1AA-4054-8A0A-7475496F0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1316" y="1344395"/>
            <a:ext cx="2502675" cy="32767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0246ACF-5730-4665-8E2B-81E2324F9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860" y="1344395"/>
            <a:ext cx="4329405" cy="32767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CB337F42-5D0C-4289-A76D-F8771EE8EB18}"/>
              </a:ext>
            </a:extLst>
          </p:cNvPr>
          <p:cNvSpPr/>
          <p:nvPr/>
        </p:nvSpPr>
        <p:spPr>
          <a:xfrm>
            <a:off x="1101011" y="763122"/>
            <a:ext cx="1017037" cy="466725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77118BE3-E822-46AA-AB0A-C5663C711ADC}"/>
              </a:ext>
            </a:extLst>
          </p:cNvPr>
          <p:cNvSpPr/>
          <p:nvPr/>
        </p:nvSpPr>
        <p:spPr>
          <a:xfrm>
            <a:off x="3359020" y="2397967"/>
            <a:ext cx="457200" cy="81176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67291B2-FB3E-4768-8DAB-C11B89174D62}"/>
              </a:ext>
            </a:extLst>
          </p:cNvPr>
          <p:cNvSpPr/>
          <p:nvPr/>
        </p:nvSpPr>
        <p:spPr>
          <a:xfrm>
            <a:off x="8574190" y="2397967"/>
            <a:ext cx="457200" cy="81176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8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56477E6-1604-42C9-8629-6A619860F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42" y="2842945"/>
            <a:ext cx="5287834" cy="36363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1A270E-594F-4A16-BC37-55D627CDFFD6}"/>
              </a:ext>
            </a:extLst>
          </p:cNvPr>
          <p:cNvSpPr txBox="1"/>
          <p:nvPr/>
        </p:nvSpPr>
        <p:spPr>
          <a:xfrm>
            <a:off x="6993272" y="4461075"/>
            <a:ext cx="4152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6. Make average weather data </a:t>
            </a:r>
            <a:endParaRPr lang="ko-KR" altLang="en-US" sz="2000" dirty="0">
              <a:latin typeface="210 앱굴림 R" panose="02020603020101020101" pitchFamily="18" charset="-127"/>
              <a:ea typeface="210 앱굴림 R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054D39-CAA1-4BCE-9F17-A72612CF9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42" y="286070"/>
            <a:ext cx="4487309" cy="172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062D5C9-E5BA-4079-A557-E01D27A77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836416"/>
            <a:ext cx="5657850" cy="6286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0F637EDB-6216-4835-B53D-C87FEF0A012E}"/>
              </a:ext>
            </a:extLst>
          </p:cNvPr>
          <p:cNvSpPr/>
          <p:nvPr/>
        </p:nvSpPr>
        <p:spPr>
          <a:xfrm>
            <a:off x="1985020" y="2208463"/>
            <a:ext cx="1082351" cy="494523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B1E2B757-C3F2-480D-A39B-DA5CF77BF0F6}"/>
              </a:ext>
            </a:extLst>
          </p:cNvPr>
          <p:cNvSpPr/>
          <p:nvPr/>
        </p:nvSpPr>
        <p:spPr>
          <a:xfrm rot="19198949">
            <a:off x="5740649" y="1746598"/>
            <a:ext cx="1082351" cy="92373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442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C18E11-071A-41F9-87A3-FC134F2634AA}"/>
              </a:ext>
            </a:extLst>
          </p:cNvPr>
          <p:cNvSpPr/>
          <p:nvPr/>
        </p:nvSpPr>
        <p:spPr>
          <a:xfrm>
            <a:off x="1621970" y="736855"/>
            <a:ext cx="258147" cy="19111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CEEA3B4-04DB-403E-8C1C-81020D7F0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482" y="574032"/>
            <a:ext cx="4618473" cy="10912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5B91F6-77F8-4AD2-90BD-FDC0CA53AEC5}"/>
              </a:ext>
            </a:extLst>
          </p:cNvPr>
          <p:cNvSpPr txBox="1"/>
          <p:nvPr/>
        </p:nvSpPr>
        <p:spPr>
          <a:xfrm>
            <a:off x="1254946" y="4870034"/>
            <a:ext cx="2943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7. Merge whole data</a:t>
            </a:r>
            <a:endParaRPr lang="ko-KR" altLang="en-US" sz="2000" dirty="0">
              <a:latin typeface="210 앱굴림 R" panose="02020603020101020101" pitchFamily="18" charset="-127"/>
              <a:ea typeface="210 앱굴림 R" panose="02020603020101020101" pitchFamily="18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F39A36D-A388-4FE1-934F-4CB1AF711D67}"/>
              </a:ext>
            </a:extLst>
          </p:cNvPr>
          <p:cNvGrpSpPr/>
          <p:nvPr/>
        </p:nvGrpSpPr>
        <p:grpSpPr>
          <a:xfrm>
            <a:off x="279432" y="545845"/>
            <a:ext cx="2943225" cy="2330658"/>
            <a:chOff x="498020" y="802320"/>
            <a:chExt cx="2943225" cy="233065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7827CFF-B986-410A-9F3B-02BB0F706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020" y="802320"/>
              <a:ext cx="2943224" cy="3143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E4EB902-BFB6-41F9-A6EE-EAF8FDD93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020" y="2138405"/>
              <a:ext cx="2943224" cy="3524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E8B1FB4-EDE9-464D-8B55-E10F34299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8020" y="1455381"/>
              <a:ext cx="2943224" cy="3524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FB96FA4-1D96-4D54-B68C-5A18718B1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8020" y="2799603"/>
              <a:ext cx="2943225" cy="33337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4DD4D1C2-C3AC-4E0C-B7C4-522356D145BB}"/>
              </a:ext>
            </a:extLst>
          </p:cNvPr>
          <p:cNvSpPr/>
          <p:nvPr/>
        </p:nvSpPr>
        <p:spPr>
          <a:xfrm>
            <a:off x="3958067" y="757432"/>
            <a:ext cx="1129004" cy="727788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2206B350-6656-4700-8E64-59656DBA51AC}"/>
              </a:ext>
            </a:extLst>
          </p:cNvPr>
          <p:cNvSpPr/>
          <p:nvPr/>
        </p:nvSpPr>
        <p:spPr>
          <a:xfrm>
            <a:off x="7595118" y="1950098"/>
            <a:ext cx="923731" cy="718457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4A1EC01-C9A1-48F9-859B-BEF52131A6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8043" y="2876503"/>
            <a:ext cx="5467350" cy="37814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3377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">
            <a:extLst>
              <a:ext uri="{FF2B5EF4-FFF2-40B4-BE49-F238E27FC236}">
                <a16:creationId xmlns:a16="http://schemas.microsoft.com/office/drawing/2014/main" id="{601E0D97-DAFA-344B-B290-30ED128B63CE}"/>
              </a:ext>
            </a:extLst>
          </p:cNvPr>
          <p:cNvSpPr txBox="1"/>
          <p:nvPr/>
        </p:nvSpPr>
        <p:spPr>
          <a:xfrm>
            <a:off x="3387969" y="2284936"/>
            <a:ext cx="5416062" cy="201889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latinLnBrk="0">
              <a:defRPr/>
            </a:pPr>
            <a:r>
              <a:rPr lang="en-US" altLang="ko-KR" sz="5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3. Further Progress</a:t>
            </a:r>
            <a:endParaRPr lang="en-US" altLang="zh-CN" sz="5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AE8E6-9C0A-6B41-9582-A1BE8A207610}"/>
              </a:ext>
            </a:extLst>
          </p:cNvPr>
          <p:cNvSpPr txBox="1"/>
          <p:nvPr/>
        </p:nvSpPr>
        <p:spPr>
          <a:xfrm>
            <a:off x="5275385" y="19920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CB3A8313-4A6F-4A4A-848E-CC5A847CE3B7}"/>
              </a:ext>
            </a:extLst>
          </p:cNvPr>
          <p:cNvCxnSpPr/>
          <p:nvPr/>
        </p:nvCxnSpPr>
        <p:spPr>
          <a:xfrm>
            <a:off x="0" y="3438066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6">
            <a:extLst>
              <a:ext uri="{FF2B5EF4-FFF2-40B4-BE49-F238E27FC236}">
                <a16:creationId xmlns:a16="http://schemas.microsoft.com/office/drawing/2014/main" id="{C8E03941-2129-440E-B933-F39939171DFC}"/>
              </a:ext>
            </a:extLst>
          </p:cNvPr>
          <p:cNvSpPr/>
          <p:nvPr/>
        </p:nvSpPr>
        <p:spPr>
          <a:xfrm>
            <a:off x="0" y="3438065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pic>
        <p:nvPicPr>
          <p:cNvPr id="10" name="Picture 2" descr="김치, 아이콘, 일러스트, 벡터, 고추">
            <a:extLst>
              <a:ext uri="{FF2B5EF4-FFF2-40B4-BE49-F238E27FC236}">
                <a16:creationId xmlns:a16="http://schemas.microsoft.com/office/drawing/2014/main" id="{BC0C207A-C140-4E69-8BA2-261904DEB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999380">
            <a:off x="8870896" y="2027621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454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E4A77E5F-D142-447C-9BBA-7AF39191375A}"/>
              </a:ext>
            </a:extLst>
          </p:cNvPr>
          <p:cNvGrpSpPr/>
          <p:nvPr/>
        </p:nvGrpSpPr>
        <p:grpSpPr>
          <a:xfrm>
            <a:off x="831642" y="866119"/>
            <a:ext cx="10356980" cy="5125761"/>
            <a:chOff x="811764" y="621896"/>
            <a:chExt cx="10356980" cy="5125761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CEF4A9EC-C71B-40E4-82EE-886E0B53C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1764" y="621896"/>
              <a:ext cx="10356980" cy="5125761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2D51F53-8D44-400D-B14B-96BB1A37D72C}"/>
                </a:ext>
              </a:extLst>
            </p:cNvPr>
            <p:cNvSpPr/>
            <p:nvPr/>
          </p:nvSpPr>
          <p:spPr>
            <a:xfrm>
              <a:off x="811764" y="621896"/>
              <a:ext cx="10356980" cy="5125761"/>
            </a:xfrm>
            <a:prstGeom prst="rect">
              <a:avLst/>
            </a:prstGeom>
            <a:blipFill dpi="0" rotWithShape="1">
              <a:blip r:embed="rId3">
                <a:alphaModFix amt="55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E5A7AF5-BBC7-4952-BF08-DC832D5F6680}"/>
                </a:ext>
              </a:extLst>
            </p:cNvPr>
            <p:cNvSpPr txBox="1"/>
            <p:nvPr/>
          </p:nvSpPr>
          <p:spPr>
            <a:xfrm>
              <a:off x="5188228" y="1371603"/>
              <a:ext cx="2335696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3900" b="1" dirty="0">
                  <a:solidFill>
                    <a:srgbClr val="FF0000"/>
                  </a:solidFill>
                  <a:latin typeface="210 앱굴림 R" panose="02020603020101020101" pitchFamily="18" charset="-127"/>
                  <a:ea typeface="210 앱굴림 R" panose="02020603020101020101" pitchFamily="18" charset="-127"/>
                </a:rPr>
                <a:t>?</a:t>
              </a:r>
              <a:endParaRPr lang="ko-KR" altLang="en-US" sz="23900" b="1" dirty="0">
                <a:solidFill>
                  <a:srgbClr val="FF0000"/>
                </a:solidFill>
                <a:latin typeface="210 앱굴림 R" panose="02020603020101020101" pitchFamily="18" charset="-127"/>
                <a:ea typeface="210 앱굴림 R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1167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45BB34E9-71E7-4A23-B969-88FF6CC4CB54}"/>
              </a:ext>
            </a:extLst>
          </p:cNvPr>
          <p:cNvGrpSpPr/>
          <p:nvPr/>
        </p:nvGrpSpPr>
        <p:grpSpPr>
          <a:xfrm>
            <a:off x="1110439" y="351700"/>
            <a:ext cx="9971122" cy="6154599"/>
            <a:chOff x="1328249" y="320846"/>
            <a:chExt cx="9737662" cy="5874035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E5466184-4E24-401F-AD7F-BFCDAC74C783}"/>
                </a:ext>
              </a:extLst>
            </p:cNvPr>
            <p:cNvGrpSpPr/>
            <p:nvPr/>
          </p:nvGrpSpPr>
          <p:grpSpPr>
            <a:xfrm>
              <a:off x="1328249" y="320846"/>
              <a:ext cx="9737662" cy="5874035"/>
              <a:chOff x="1328249" y="320846"/>
              <a:chExt cx="9737662" cy="5874035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C57BF506-884D-49A5-8348-7428E9D3AD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95526" y="320847"/>
                <a:ext cx="4861056" cy="3027420"/>
              </a:xfrm>
              <a:prstGeom prst="rect">
                <a:avLst/>
              </a:prstGeom>
              <a:ln w="3810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F3CED247-D9FE-4B40-A0DB-BE779CA937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04856" y="3376259"/>
                <a:ext cx="4861055" cy="2818621"/>
              </a:xfrm>
              <a:prstGeom prst="rect">
                <a:avLst/>
              </a:prstGeom>
              <a:ln w="3810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650FACAE-38C8-41AD-B5D4-94696D2E10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8249" y="320846"/>
                <a:ext cx="4839281" cy="3027420"/>
              </a:xfrm>
              <a:prstGeom prst="rect">
                <a:avLst/>
              </a:prstGeom>
              <a:ln w="3810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634733B3-1B7F-4011-B590-900030138B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8249" y="3376259"/>
                <a:ext cx="4839285" cy="2818622"/>
              </a:xfrm>
              <a:prstGeom prst="rect">
                <a:avLst/>
              </a:prstGeom>
              <a:ln w="3810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</p:grp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93B10D1-D7C2-4952-AD0B-D8245AA91C39}"/>
                </a:ext>
              </a:extLst>
            </p:cNvPr>
            <p:cNvSpPr/>
            <p:nvPr/>
          </p:nvSpPr>
          <p:spPr>
            <a:xfrm>
              <a:off x="1328249" y="320846"/>
              <a:ext cx="9728333" cy="5874034"/>
            </a:xfrm>
            <a:prstGeom prst="rect">
              <a:avLst/>
            </a:prstGeom>
            <a:blipFill dpi="0" rotWithShape="1">
              <a:blip r:embed="rId6">
                <a:alphaModFix amt="55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F938AB9-7356-4B65-ACE7-356FC808A513}"/>
                </a:ext>
              </a:extLst>
            </p:cNvPr>
            <p:cNvSpPr txBox="1"/>
            <p:nvPr/>
          </p:nvSpPr>
          <p:spPr>
            <a:xfrm>
              <a:off x="5577382" y="2052819"/>
              <a:ext cx="1519265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600" b="1" dirty="0">
                  <a:solidFill>
                    <a:srgbClr val="FF0000"/>
                  </a:solidFill>
                  <a:latin typeface="210 앱굴림 R" panose="02020603020101020101" pitchFamily="18" charset="-127"/>
                  <a:ea typeface="210 앱굴림 R" panose="02020603020101020101" pitchFamily="18" charset="-127"/>
                </a:rPr>
                <a:t>?</a:t>
              </a:r>
              <a:endParaRPr lang="ko-KR" altLang="en-US" sz="16600" b="1" dirty="0">
                <a:solidFill>
                  <a:srgbClr val="FF0000"/>
                </a:solidFill>
                <a:latin typeface="210 앱굴림 R" panose="02020603020101020101" pitchFamily="18" charset="-127"/>
                <a:ea typeface="210 앱굴림 R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4978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603DDA-0C76-4846-98FF-4AB7783F1F04}"/>
              </a:ext>
            </a:extLst>
          </p:cNvPr>
          <p:cNvSpPr txBox="1"/>
          <p:nvPr/>
        </p:nvSpPr>
        <p:spPr>
          <a:xfrm>
            <a:off x="3585669" y="2659637"/>
            <a:ext cx="55202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200" b="1" dirty="0"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75000">
                      <a:schemeClr val="accent6">
                        <a:lumMod val="60000"/>
                        <a:lumOff val="40000"/>
                      </a:schemeClr>
                    </a:gs>
                    <a:gs pos="95000">
                      <a:schemeClr val="accent6">
                        <a:lumMod val="40000"/>
                        <a:lumOff val="60000"/>
                      </a:schemeClr>
                    </a:gs>
                    <a:gs pos="29000">
                      <a:schemeClr val="accent6">
                        <a:lumMod val="75000"/>
                      </a:schemeClr>
                    </a:gs>
                    <a:gs pos="2000">
                      <a:schemeClr val="accent6">
                        <a:lumMod val="75000"/>
                      </a:schemeClr>
                    </a:gs>
                  </a:gsLst>
                  <a:lin ang="5400000" scaled="1"/>
                </a:gradFill>
                <a:latin typeface="210 앱굴림 R" panose="02020603020101020101" pitchFamily="18" charset="-127"/>
                <a:ea typeface="210 앱굴림 R" panose="02020603020101020101" pitchFamily="18" charset="-127"/>
              </a:rPr>
              <a:t>Thank you</a:t>
            </a:r>
            <a:endParaRPr lang="ko-KR" altLang="en-US" sz="7200" b="1" dirty="0">
              <a:gradFill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75000">
                    <a:schemeClr val="accent6">
                      <a:lumMod val="60000"/>
                      <a:lumOff val="40000"/>
                    </a:schemeClr>
                  </a:gs>
                  <a:gs pos="95000">
                    <a:schemeClr val="accent6">
                      <a:lumMod val="40000"/>
                      <a:lumOff val="60000"/>
                    </a:schemeClr>
                  </a:gs>
                  <a:gs pos="29000">
                    <a:schemeClr val="accent6">
                      <a:lumMod val="75000"/>
                    </a:schemeClr>
                  </a:gs>
                  <a:gs pos="2000">
                    <a:schemeClr val="accent6">
                      <a:lumMod val="75000"/>
                    </a:schemeClr>
                  </a:gs>
                </a:gsLst>
                <a:lin ang="5400000" scaled="1"/>
              </a:gradFill>
              <a:latin typeface="210 앱굴림 R" panose="02020603020101020101" pitchFamily="18" charset="-127"/>
              <a:ea typeface="210 앱굴림 R" panose="02020603020101020101" pitchFamily="18" charset="-127"/>
            </a:endParaRPr>
          </a:p>
        </p:txBody>
      </p:sp>
      <p:pic>
        <p:nvPicPr>
          <p:cNvPr id="5" name="Picture 2" descr="김치, 아이콘, 일러스트, 벡터, 고추">
            <a:extLst>
              <a:ext uri="{FF2B5EF4-FFF2-40B4-BE49-F238E27FC236}">
                <a16:creationId xmlns:a16="http://schemas.microsoft.com/office/drawing/2014/main" id="{E13242B7-7C20-4DEC-8F95-96A5C8AFB8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999380">
            <a:off x="7956497" y="2208110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596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287</Words>
  <Application>Microsoft Office PowerPoint</Application>
  <PresentationFormat>와이드스크린</PresentationFormat>
  <Paragraphs>64</Paragraphs>
  <Slides>19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210 앱굴림 R</vt:lpstr>
      <vt:lpstr>Nanum Gothic</vt:lpstr>
      <vt:lpstr>Nanum Gothic ExtraBold</vt:lpstr>
      <vt:lpstr>나눔바른고딕OTF</vt:lpstr>
      <vt:lpstr>맑은 고딕</vt:lpstr>
      <vt:lpstr>Arial</vt:lpstr>
      <vt:lpstr>Calibri</vt:lpstr>
      <vt:lpstr>Office 테마</vt:lpstr>
      <vt:lpstr>Business Analytics Project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Analytics Project</dc:title>
  <dc:creator> </dc:creator>
  <cp:lastModifiedBy> </cp:lastModifiedBy>
  <cp:revision>39</cp:revision>
  <dcterms:created xsi:type="dcterms:W3CDTF">2019-11-03T07:22:43Z</dcterms:created>
  <dcterms:modified xsi:type="dcterms:W3CDTF">2019-11-03T15:22:43Z</dcterms:modified>
</cp:coreProperties>
</file>