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8"/>
  </p:notesMasterIdLst>
  <p:sldIdLst>
    <p:sldId id="274" r:id="rId5"/>
    <p:sldId id="427" r:id="rId6"/>
    <p:sldId id="365" r:id="rId7"/>
    <p:sldId id="406" r:id="rId8"/>
    <p:sldId id="428" r:id="rId9"/>
    <p:sldId id="429" r:id="rId10"/>
    <p:sldId id="437" r:id="rId11"/>
    <p:sldId id="430" r:id="rId12"/>
    <p:sldId id="438" r:id="rId13"/>
    <p:sldId id="431" r:id="rId14"/>
    <p:sldId id="432" r:id="rId15"/>
    <p:sldId id="433" r:id="rId16"/>
    <p:sldId id="439" r:id="rId17"/>
    <p:sldId id="440" r:id="rId18"/>
    <p:sldId id="441" r:id="rId19"/>
    <p:sldId id="442" r:id="rId20"/>
    <p:sldId id="444" r:id="rId21"/>
    <p:sldId id="434" r:id="rId22"/>
    <p:sldId id="445" r:id="rId23"/>
    <p:sldId id="443" r:id="rId24"/>
    <p:sldId id="446" r:id="rId25"/>
    <p:sldId id="435" r:id="rId26"/>
    <p:sldId id="436" r:id="rId2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9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AE47"/>
    <a:srgbClr val="6EAC46"/>
    <a:srgbClr val="FF9966"/>
    <a:srgbClr val="FFF2CC"/>
    <a:srgbClr val="ABD882"/>
    <a:srgbClr val="FF9933"/>
    <a:srgbClr val="FFCA4F"/>
    <a:srgbClr val="FF6600"/>
    <a:srgbClr val="469014"/>
    <a:srgbClr val="56B0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5FA05C-E6EF-4416-897D-579932768756}" v="10" dt="2019-12-02T11:09:52.6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밝은 스타일 2 - 강조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06" autoAdjust="0"/>
    <p:restoredTop sz="82824" autoAdjust="0"/>
  </p:normalViewPr>
  <p:slideViewPr>
    <p:cSldViewPr snapToGrid="0" showGuides="1">
      <p:cViewPr varScale="1">
        <p:scale>
          <a:sx n="66" d="100"/>
          <a:sy n="66" d="100"/>
        </p:scale>
        <p:origin x="66" y="690"/>
      </p:cViewPr>
      <p:guideLst>
        <p:guide orient="horz" pos="2160"/>
        <p:guide pos="379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구승효" userId="1d249be0-9805-4db6-8837-edb995d630a7" providerId="ADAL" clId="{085FA05C-E6EF-4416-897D-579932768756}"/>
    <pc:docChg chg="undo custSel addSld modSld">
      <pc:chgData name="구승효" userId="1d249be0-9805-4db6-8837-edb995d630a7" providerId="ADAL" clId="{085FA05C-E6EF-4416-897D-579932768756}" dt="2019-12-02T11:10:21.765" v="435" actId="20577"/>
      <pc:docMkLst>
        <pc:docMk/>
      </pc:docMkLst>
      <pc:sldChg chg="modSp">
        <pc:chgData name="구승효" userId="1d249be0-9805-4db6-8837-edb995d630a7" providerId="ADAL" clId="{085FA05C-E6EF-4416-897D-579932768756}" dt="2019-12-02T10:56:57.095" v="12" actId="20577"/>
        <pc:sldMkLst>
          <pc:docMk/>
          <pc:sldMk cId="4010011971" sldId="274"/>
        </pc:sldMkLst>
        <pc:spChg chg="mod">
          <ac:chgData name="구승효" userId="1d249be0-9805-4db6-8837-edb995d630a7" providerId="ADAL" clId="{085FA05C-E6EF-4416-897D-579932768756}" dt="2019-12-02T10:56:57.095" v="12" actId="20577"/>
          <ac:spMkLst>
            <pc:docMk/>
            <pc:sldMk cId="4010011971" sldId="274"/>
            <ac:spMk id="8" creationId="{0C282BF2-8F0B-7A41-A48E-9E0A20969515}"/>
          </ac:spMkLst>
        </pc:spChg>
      </pc:sldChg>
      <pc:sldChg chg="modSp">
        <pc:chgData name="구승효" userId="1d249be0-9805-4db6-8837-edb995d630a7" providerId="ADAL" clId="{085FA05C-E6EF-4416-897D-579932768756}" dt="2019-12-02T11:07:59.897" v="253" actId="20577"/>
        <pc:sldMkLst>
          <pc:docMk/>
          <pc:sldMk cId="3134385057" sldId="365"/>
        </pc:sldMkLst>
        <pc:spChg chg="mod">
          <ac:chgData name="구승효" userId="1d249be0-9805-4db6-8837-edb995d630a7" providerId="ADAL" clId="{085FA05C-E6EF-4416-897D-579932768756}" dt="2019-12-02T11:07:59.897" v="253" actId="20577"/>
          <ac:spMkLst>
            <pc:docMk/>
            <pc:sldMk cId="3134385057" sldId="365"/>
            <ac:spMk id="37" creationId="{601E0D97-DAFA-344B-B290-30ED128B63CE}"/>
          </ac:spMkLst>
        </pc:spChg>
      </pc:sldChg>
      <pc:sldChg chg="delSp modSp">
        <pc:chgData name="구승효" userId="1d249be0-9805-4db6-8837-edb995d630a7" providerId="ADAL" clId="{085FA05C-E6EF-4416-897D-579932768756}" dt="2019-12-02T11:08:07.941" v="265" actId="20577"/>
        <pc:sldMkLst>
          <pc:docMk/>
          <pc:sldMk cId="1345449167" sldId="406"/>
        </pc:sldMkLst>
        <pc:spChg chg="del mod">
          <ac:chgData name="구승효" userId="1d249be0-9805-4db6-8837-edb995d630a7" providerId="ADAL" clId="{085FA05C-E6EF-4416-897D-579932768756}" dt="2019-12-02T10:57:11.662" v="20" actId="478"/>
          <ac:spMkLst>
            <pc:docMk/>
            <pc:sldMk cId="1345449167" sldId="406"/>
            <ac:spMk id="11" creationId="{0C06CC60-429C-41D8-AFF6-B730BF0CF0F8}"/>
          </ac:spMkLst>
        </pc:spChg>
        <pc:spChg chg="mod">
          <ac:chgData name="구승효" userId="1d249be0-9805-4db6-8837-edb995d630a7" providerId="ADAL" clId="{085FA05C-E6EF-4416-897D-579932768756}" dt="2019-12-02T11:08:07.941" v="265" actId="20577"/>
          <ac:spMkLst>
            <pc:docMk/>
            <pc:sldMk cId="1345449167" sldId="406"/>
            <ac:spMk id="16" creationId="{1BDBE009-8267-3841-A6A9-6A8D3D829B08}"/>
          </ac:spMkLst>
        </pc:spChg>
        <pc:spChg chg="del">
          <ac:chgData name="구승효" userId="1d249be0-9805-4db6-8837-edb995d630a7" providerId="ADAL" clId="{085FA05C-E6EF-4416-897D-579932768756}" dt="2019-12-02T10:57:09.752" v="18" actId="478"/>
          <ac:spMkLst>
            <pc:docMk/>
            <pc:sldMk cId="1345449167" sldId="406"/>
            <ac:spMk id="21" creationId="{33F1472F-E4C6-4A24-B49D-305A0854615A}"/>
          </ac:spMkLst>
        </pc:spChg>
        <pc:picChg chg="del">
          <ac:chgData name="구승효" userId="1d249be0-9805-4db6-8837-edb995d630a7" providerId="ADAL" clId="{085FA05C-E6EF-4416-897D-579932768756}" dt="2019-12-02T10:57:09.752" v="18" actId="478"/>
          <ac:picMkLst>
            <pc:docMk/>
            <pc:sldMk cId="1345449167" sldId="406"/>
            <ac:picMk id="2" creationId="{8AC95A73-785F-4B29-9DEC-FECC7322576A}"/>
          </ac:picMkLst>
        </pc:picChg>
        <pc:picChg chg="del">
          <ac:chgData name="구승효" userId="1d249be0-9805-4db6-8837-edb995d630a7" providerId="ADAL" clId="{085FA05C-E6EF-4416-897D-579932768756}" dt="2019-12-02T10:57:09.752" v="18" actId="478"/>
          <ac:picMkLst>
            <pc:docMk/>
            <pc:sldMk cId="1345449167" sldId="406"/>
            <ac:picMk id="3" creationId="{33749178-F9C4-4B6C-8CD5-53364C07068A}"/>
          </ac:picMkLst>
        </pc:picChg>
      </pc:sldChg>
      <pc:sldChg chg="modSp">
        <pc:chgData name="구승효" userId="1d249be0-9805-4db6-8837-edb995d630a7" providerId="ADAL" clId="{085FA05C-E6EF-4416-897D-579932768756}" dt="2019-12-02T11:10:21.765" v="435" actId="20577"/>
        <pc:sldMkLst>
          <pc:docMk/>
          <pc:sldMk cId="289943893" sldId="427"/>
        </pc:sldMkLst>
        <pc:spChg chg="mod">
          <ac:chgData name="구승효" userId="1d249be0-9805-4db6-8837-edb995d630a7" providerId="ADAL" clId="{085FA05C-E6EF-4416-897D-579932768756}" dt="2019-12-02T11:10:21.765" v="435" actId="20577"/>
          <ac:spMkLst>
            <pc:docMk/>
            <pc:sldMk cId="289943893" sldId="427"/>
            <ac:spMk id="9" creationId="{77A814D4-2A9E-F44A-B472-191A5277F24B}"/>
          </ac:spMkLst>
        </pc:spChg>
      </pc:sldChg>
      <pc:sldChg chg="modSp add">
        <pc:chgData name="구승효" userId="1d249be0-9805-4db6-8837-edb995d630a7" providerId="ADAL" clId="{085FA05C-E6EF-4416-897D-579932768756}" dt="2019-12-02T11:08:23.685" v="271" actId="20577"/>
        <pc:sldMkLst>
          <pc:docMk/>
          <pc:sldMk cId="1461315779" sldId="428"/>
        </pc:sldMkLst>
        <pc:spChg chg="mod">
          <ac:chgData name="구승효" userId="1d249be0-9805-4db6-8837-edb995d630a7" providerId="ADAL" clId="{085FA05C-E6EF-4416-897D-579932768756}" dt="2019-12-02T11:08:23.685" v="271" actId="20577"/>
          <ac:spMkLst>
            <pc:docMk/>
            <pc:sldMk cId="1461315779" sldId="428"/>
            <ac:spMk id="37" creationId="{601E0D97-DAFA-344B-B290-30ED128B63CE}"/>
          </ac:spMkLst>
        </pc:spChg>
      </pc:sldChg>
      <pc:sldChg chg="modSp add">
        <pc:chgData name="구승효" userId="1d249be0-9805-4db6-8837-edb995d630a7" providerId="ADAL" clId="{085FA05C-E6EF-4416-897D-579932768756}" dt="2019-12-02T11:08:32.588" v="292" actId="20577"/>
        <pc:sldMkLst>
          <pc:docMk/>
          <pc:sldMk cId="946454632" sldId="429"/>
        </pc:sldMkLst>
        <pc:spChg chg="mod">
          <ac:chgData name="구승효" userId="1d249be0-9805-4db6-8837-edb995d630a7" providerId="ADAL" clId="{085FA05C-E6EF-4416-897D-579932768756}" dt="2019-12-02T11:08:32.588" v="292" actId="20577"/>
          <ac:spMkLst>
            <pc:docMk/>
            <pc:sldMk cId="946454632" sldId="429"/>
            <ac:spMk id="16" creationId="{1BDBE009-8267-3841-A6A9-6A8D3D829B08}"/>
          </ac:spMkLst>
        </pc:spChg>
      </pc:sldChg>
      <pc:sldChg chg="modSp add">
        <pc:chgData name="구승효" userId="1d249be0-9805-4db6-8837-edb995d630a7" providerId="ADAL" clId="{085FA05C-E6EF-4416-897D-579932768756}" dt="2019-12-02T11:08:43.676" v="307" actId="20577"/>
        <pc:sldMkLst>
          <pc:docMk/>
          <pc:sldMk cId="2053972035" sldId="430"/>
        </pc:sldMkLst>
        <pc:spChg chg="mod">
          <ac:chgData name="구승효" userId="1d249be0-9805-4db6-8837-edb995d630a7" providerId="ADAL" clId="{085FA05C-E6EF-4416-897D-579932768756}" dt="2019-12-02T11:08:43.676" v="307" actId="20577"/>
          <ac:spMkLst>
            <pc:docMk/>
            <pc:sldMk cId="2053972035" sldId="430"/>
            <ac:spMk id="16" creationId="{1BDBE009-8267-3841-A6A9-6A8D3D829B08}"/>
          </ac:spMkLst>
        </pc:spChg>
      </pc:sldChg>
      <pc:sldChg chg="modSp add">
        <pc:chgData name="구승효" userId="1d249be0-9805-4db6-8837-edb995d630a7" providerId="ADAL" clId="{085FA05C-E6EF-4416-897D-579932768756}" dt="2019-12-02T11:08:51.761" v="315" actId="20577"/>
        <pc:sldMkLst>
          <pc:docMk/>
          <pc:sldMk cId="2967375036" sldId="431"/>
        </pc:sldMkLst>
        <pc:spChg chg="mod">
          <ac:chgData name="구승효" userId="1d249be0-9805-4db6-8837-edb995d630a7" providerId="ADAL" clId="{085FA05C-E6EF-4416-897D-579932768756}" dt="2019-12-02T11:08:51.761" v="315" actId="20577"/>
          <ac:spMkLst>
            <pc:docMk/>
            <pc:sldMk cId="2967375036" sldId="431"/>
            <ac:spMk id="16" creationId="{1BDBE009-8267-3841-A6A9-6A8D3D829B08}"/>
          </ac:spMkLst>
        </pc:spChg>
      </pc:sldChg>
      <pc:sldChg chg="modSp add">
        <pc:chgData name="구승효" userId="1d249be0-9805-4db6-8837-edb995d630a7" providerId="ADAL" clId="{085FA05C-E6EF-4416-897D-579932768756}" dt="2019-12-02T11:09:43.270" v="383" actId="20577"/>
        <pc:sldMkLst>
          <pc:docMk/>
          <pc:sldMk cId="377715684" sldId="432"/>
        </pc:sldMkLst>
        <pc:spChg chg="mod">
          <ac:chgData name="구승효" userId="1d249be0-9805-4db6-8837-edb995d630a7" providerId="ADAL" clId="{085FA05C-E6EF-4416-897D-579932768756}" dt="2019-12-02T11:09:43.270" v="383" actId="20577"/>
          <ac:spMkLst>
            <pc:docMk/>
            <pc:sldMk cId="377715684" sldId="432"/>
            <ac:spMk id="37" creationId="{601E0D97-DAFA-344B-B290-30ED128B63CE}"/>
          </ac:spMkLst>
        </pc:spChg>
      </pc:sldChg>
      <pc:sldChg chg="modSp add">
        <pc:chgData name="구승효" userId="1d249be0-9805-4db6-8837-edb995d630a7" providerId="ADAL" clId="{085FA05C-E6EF-4416-897D-579932768756}" dt="2019-12-02T11:09:31.238" v="376" actId="20577"/>
        <pc:sldMkLst>
          <pc:docMk/>
          <pc:sldMk cId="2656261321" sldId="433"/>
        </pc:sldMkLst>
        <pc:spChg chg="mod">
          <ac:chgData name="구승효" userId="1d249be0-9805-4db6-8837-edb995d630a7" providerId="ADAL" clId="{085FA05C-E6EF-4416-897D-579932768756}" dt="2019-12-02T11:09:31.238" v="376" actId="20577"/>
          <ac:spMkLst>
            <pc:docMk/>
            <pc:sldMk cId="2656261321" sldId="433"/>
            <ac:spMk id="16" creationId="{1BDBE009-8267-3841-A6A9-6A8D3D829B08}"/>
          </ac:spMkLst>
        </pc:spChg>
      </pc:sldChg>
      <pc:sldChg chg="modSp add">
        <pc:chgData name="구승효" userId="1d249be0-9805-4db6-8837-edb995d630a7" providerId="ADAL" clId="{085FA05C-E6EF-4416-897D-579932768756}" dt="2019-12-02T11:09:35.001" v="382" actId="20577"/>
        <pc:sldMkLst>
          <pc:docMk/>
          <pc:sldMk cId="464496165" sldId="434"/>
        </pc:sldMkLst>
        <pc:spChg chg="mod">
          <ac:chgData name="구승효" userId="1d249be0-9805-4db6-8837-edb995d630a7" providerId="ADAL" clId="{085FA05C-E6EF-4416-897D-579932768756}" dt="2019-12-02T11:09:35.001" v="382" actId="20577"/>
          <ac:spMkLst>
            <pc:docMk/>
            <pc:sldMk cId="464496165" sldId="434"/>
            <ac:spMk id="16" creationId="{1BDBE009-8267-3841-A6A9-6A8D3D829B08}"/>
          </ac:spMkLst>
        </pc:spChg>
      </pc:sldChg>
      <pc:sldChg chg="modSp add">
        <pc:chgData name="구승효" userId="1d249be0-9805-4db6-8837-edb995d630a7" providerId="ADAL" clId="{085FA05C-E6EF-4416-897D-579932768756}" dt="2019-12-02T11:10:01.914" v="410" actId="20577"/>
        <pc:sldMkLst>
          <pc:docMk/>
          <pc:sldMk cId="1884423117" sldId="435"/>
        </pc:sldMkLst>
        <pc:spChg chg="mod">
          <ac:chgData name="구승효" userId="1d249be0-9805-4db6-8837-edb995d630a7" providerId="ADAL" clId="{085FA05C-E6EF-4416-897D-579932768756}" dt="2019-12-02T11:10:01.914" v="410" actId="20577"/>
          <ac:spMkLst>
            <pc:docMk/>
            <pc:sldMk cId="1884423117" sldId="435"/>
            <ac:spMk id="37" creationId="{601E0D97-DAFA-344B-B290-30ED128B63CE}"/>
          </ac:spMkLst>
        </pc:spChg>
      </pc:sldChg>
      <pc:sldChg chg="modSp add">
        <pc:chgData name="구승효" userId="1d249be0-9805-4db6-8837-edb995d630a7" providerId="ADAL" clId="{085FA05C-E6EF-4416-897D-579932768756}" dt="2019-12-02T11:10:07.939" v="423" actId="20577"/>
        <pc:sldMkLst>
          <pc:docMk/>
          <pc:sldMk cId="2929494042" sldId="436"/>
        </pc:sldMkLst>
        <pc:spChg chg="mod">
          <ac:chgData name="구승효" userId="1d249be0-9805-4db6-8837-edb995d630a7" providerId="ADAL" clId="{085FA05C-E6EF-4416-897D-579932768756}" dt="2019-12-02T11:10:07.939" v="423" actId="20577"/>
          <ac:spMkLst>
            <pc:docMk/>
            <pc:sldMk cId="2929494042" sldId="436"/>
            <ac:spMk id="16" creationId="{1BDBE009-8267-3841-A6A9-6A8D3D829B0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03DD46-6924-44BE-9CE5-1101E4E5BF82}" type="datetimeFigureOut">
              <a:rPr lang="ko-KR" altLang="en-US" smtClean="0"/>
              <a:t>2019-12-02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ECB611-F6DC-4EDD-83C3-516AB6137E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4257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ECB611-F6DC-4EDD-83C3-516AB6137E69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49783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FE27D4-75C0-5646-90A9-CB28CF5813FD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339451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FE27D4-75C0-5646-90A9-CB28CF5813FD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701867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FE27D4-75C0-5646-90A9-CB28CF5813FD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93543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FE27D4-75C0-5646-90A9-CB28CF5813FD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715549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FE27D4-75C0-5646-90A9-CB28CF5813FD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729539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FE27D4-75C0-5646-90A9-CB28CF5813FD}" type="slidenum">
              <a:rPr kumimoji="1" lang="ko-KR" altLang="en-US" smtClean="0"/>
              <a:t>10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76849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FE27D4-75C0-5646-90A9-CB28CF5813FD}" type="slidenum">
              <a:rPr kumimoji="1" lang="ko-KR" altLang="en-US" smtClean="0"/>
              <a:t>12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368034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FE27D4-75C0-5646-90A9-CB28CF5813FD}" type="slidenum">
              <a:rPr kumimoji="1" lang="ko-KR" altLang="en-US" smtClean="0"/>
              <a:t>13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428298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FE27D4-75C0-5646-90A9-CB28CF5813FD}" type="slidenum">
              <a:rPr kumimoji="1" lang="ko-KR" altLang="en-US" smtClean="0"/>
              <a:t>14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954221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FE27D4-75C0-5646-90A9-CB28CF5813FD}" type="slidenum">
              <a:rPr kumimoji="1" lang="ko-KR" altLang="en-US" smtClean="0"/>
              <a:t>15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193680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FE27D4-75C0-5646-90A9-CB28CF5813FD}" type="slidenum">
              <a:rPr kumimoji="1" lang="ko-KR" altLang="en-US" smtClean="0"/>
              <a:t>16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484018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FE27D4-75C0-5646-90A9-CB28CF5813FD}" type="slidenum">
              <a:rPr kumimoji="1" lang="ko-KR" altLang="en-US" smtClean="0"/>
              <a:t>17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315398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FE27D4-75C0-5646-90A9-CB28CF5813FD}" type="slidenum">
              <a:rPr kumimoji="1" lang="ko-KR" altLang="en-US" smtClean="0"/>
              <a:t>18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46854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FE27D4-75C0-5646-90A9-CB28CF5813FD}" type="slidenum">
              <a:rPr kumimoji="1" lang="ko-KR" altLang="en-US" smtClean="0"/>
              <a:t>19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639504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FE27D4-75C0-5646-90A9-CB28CF5813FD}" type="slidenum">
              <a:rPr kumimoji="1" lang="ko-KR" altLang="en-US" smtClean="0"/>
              <a:t>20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132261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FE27D4-75C0-5646-90A9-CB28CF5813FD}" type="slidenum">
              <a:rPr kumimoji="1" lang="ko-KR" altLang="en-US" smtClean="0"/>
              <a:t>21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74088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FE27D4-75C0-5646-90A9-CB28CF5813FD}" type="slidenum">
              <a:rPr kumimoji="1" lang="ko-KR" altLang="en-US" smtClean="0"/>
              <a:t>23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32211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C64AE2-B414-40F1-90E8-8DE7965BE8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590BA8F-F284-43B4-9805-B73758942E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37058A-959E-4E8B-B8D2-A90500EAA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B812F-BFB0-44FB-901F-5952EA19365C}" type="datetimeFigureOut">
              <a:rPr lang="ko-KR" altLang="en-US" smtClean="0"/>
              <a:t>2019-12-02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6647C9-5AEB-45D5-A07A-5596931F4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5EA807-9BF5-474E-BE83-D17FD0732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73B1D-6BDD-4547-B037-3843264880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1171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76BB44-9739-405E-AE14-8C92EC3D3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7441CE-A0ED-4DD0-A5E0-C86F608B84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53CC42-6F36-4FE2-9840-05DA9BE0A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B812F-BFB0-44FB-901F-5952EA19365C}" type="datetimeFigureOut">
              <a:rPr lang="ko-KR" altLang="en-US" smtClean="0"/>
              <a:t>2019-12-02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9C07BC-28CF-4426-A407-9DBC1ED52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3EAF9F-69DA-4046-B03B-2A3DB1C81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73B1D-6BDD-4547-B037-3843264880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3355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515363-5252-437A-AF6B-092578399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92D324-7CFF-40CE-A256-3CA046F30D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B1C708-028D-4D5D-B20E-A11F4056E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B812F-BFB0-44FB-901F-5952EA19365C}" type="datetimeFigureOut">
              <a:rPr lang="ko-KR" altLang="en-US" smtClean="0"/>
              <a:t>2019-12-02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FDD41E-5C13-47CA-9EE4-32E9E0609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796C06-EF82-4022-8C45-CCDDD91F8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73B1D-6BDD-4547-B037-3843264880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5145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967983-B8F3-433C-B041-F76E2154D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993055-F811-496B-848F-D327623438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4A7A8DE-4B54-4034-8D37-E93CCF871C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E7777F8-9330-4339-BAC7-8A465ACD7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B812F-BFB0-44FB-901F-5952EA19365C}" type="datetimeFigureOut">
              <a:rPr lang="ko-KR" altLang="en-US" smtClean="0"/>
              <a:t>2019-12-02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EE803F0-8225-4287-8512-AC6A9641C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516A4EB-6B81-4DE6-BE58-568A53FCF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73B1D-6BDD-4547-B037-3843264880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1074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7F25F2-3DBC-4588-B95D-2083A362C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D1200F-A5F5-430E-87CF-FB07979140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16FD20-D5C4-4DCA-AF8D-FF14599C85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C86A565-01BA-48FC-B88C-25ED237E87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521DBE7-B1B1-4D8D-996A-8548D4DB9E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99A8227-63C9-4043-AE81-02FD5D6E9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B812F-BFB0-44FB-901F-5952EA19365C}" type="datetimeFigureOut">
              <a:rPr lang="ko-KR" altLang="en-US" smtClean="0"/>
              <a:t>2019-12-02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51406AB-BF02-4B17-A689-97D6A1E0C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BFAE244-DE09-428A-ACB1-B0815D41A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73B1D-6BDD-4547-B037-3843264880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9041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1BD4AB-A27A-4178-BAA8-895DD4959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D1E1D48-FFE5-4914-AE0E-919F4F997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B812F-BFB0-44FB-901F-5952EA19365C}" type="datetimeFigureOut">
              <a:rPr lang="ko-KR" altLang="en-US" smtClean="0"/>
              <a:t>2019-12-02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29A1324-1C3D-49C8-8170-71BF81B5A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35E0CEC-AB72-4AF8-887F-D365C29D9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73B1D-6BDD-4547-B037-3843264880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188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34AB0C-E598-401F-B1EC-821153F7A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B812F-BFB0-44FB-901F-5952EA19365C}" type="datetimeFigureOut">
              <a:rPr lang="ko-KR" altLang="en-US" smtClean="0"/>
              <a:t>2019-12-02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CB9641A-CEE9-4A62-A8BC-480CE7056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5DD2C9-4AB8-4D81-8787-5812A93CE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73B1D-6BDD-4547-B037-3843264880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4740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5C74D8-1F96-4094-AF54-81A5216DC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064FDA-BF34-4AA5-AC76-FBB9708AB3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9362B58-2F0D-48C2-A58F-760B9AD218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48628EB-35A1-4464-9861-E7A9ABD85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B812F-BFB0-44FB-901F-5952EA19365C}" type="datetimeFigureOut">
              <a:rPr lang="ko-KR" altLang="en-US" smtClean="0"/>
              <a:t>2019-12-02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15DB737-4C03-4566-BBF9-8B7542FDB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5BE7DF9-9A86-477F-9017-9FEF08998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73B1D-6BDD-4547-B037-3843264880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7295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F2A332-0323-4E09-A61F-FF270797D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602430B-5D77-43EC-A633-677D2CB825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6E9351A-5E87-4239-8B3B-13F639F9C8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10E6C9B-4048-4263-AA7D-0A8B5219D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B812F-BFB0-44FB-901F-5952EA19365C}" type="datetimeFigureOut">
              <a:rPr lang="ko-KR" altLang="en-US" smtClean="0"/>
              <a:t>2019-12-02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09CAD72-A062-4D74-AE2E-3D82BF436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BCE1D24-0CCC-4C36-BBE8-C2BE2B74B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73B1D-6BDD-4547-B037-3843264880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0861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C52E10-A35C-4538-8E0C-93F064408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5651E0-5DAC-482E-9CD8-032656C18D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7CE786-0810-4037-879F-E3592A1E0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B812F-BFB0-44FB-901F-5952EA19365C}" type="datetimeFigureOut">
              <a:rPr lang="ko-KR" altLang="en-US" smtClean="0"/>
              <a:t>2019-12-02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6A5A2E-8E48-4DA1-B89D-36FC9EFDC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0911BE-6850-4575-AEA9-AAF6BBB67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73B1D-6BDD-4547-B037-3843264880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1281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3B2448F-25F7-4928-855D-6E9393E8DF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907FC98-7BC4-4C92-95A0-3DC4A4000F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906BDD-7876-4936-B6B1-4D905ECE1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B812F-BFB0-44FB-901F-5952EA19365C}" type="datetimeFigureOut">
              <a:rPr lang="ko-KR" altLang="en-US" smtClean="0"/>
              <a:t>2019-12-02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246E70-1E4E-486B-B358-6962369F4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9857D6-661E-49C0-A7FB-A17DA1264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73B1D-6BDD-4547-B037-3843264880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0005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FF7AFA9-3161-49CC-AEEF-E7DD08C65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5DBD50-7EC7-4C87-8945-883997E12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93FB83-43A0-4F40-BD6E-3671CEC9C6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AB812F-BFB0-44FB-901F-5952EA19365C}" type="datetimeFigureOut">
              <a:rPr lang="ko-KR" altLang="en-US" smtClean="0"/>
              <a:t>2019-12-02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B71DA2-0F71-4419-8BF4-AAA28F0FD5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12206C-EEA2-481A-8891-F8FB081CFF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973B1D-6BDD-4547-B037-3843264880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4579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537AF7-E3D1-974D-966B-6576DF22E2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7017" y="1505030"/>
            <a:ext cx="10717966" cy="2387600"/>
          </a:xfrm>
        </p:spPr>
        <p:txBody>
          <a:bodyPr anchor="ctr">
            <a:noAutofit/>
          </a:bodyPr>
          <a:lstStyle/>
          <a:p>
            <a:r>
              <a:rPr kumimoji="1" lang="en-US" altLang="ko-KR" sz="5400" b="1" spc="-150" dirty="0">
                <a:solidFill>
                  <a:schemeClr val="tx2">
                    <a:lumMod val="50000"/>
                  </a:schemeClr>
                </a:solidFill>
                <a:latin typeface="Nanum Gothic ExtraBold" panose="020D0604000000000000" pitchFamily="34" charset="-127"/>
                <a:ea typeface="Nanum Gothic ExtraBold" panose="020D0604000000000000" pitchFamily="34" charset="-127"/>
                <a:cs typeface="Arial" panose="020B0604020202020204" pitchFamily="34" charset="0"/>
              </a:rPr>
              <a:t>Business Analytics Project</a:t>
            </a:r>
            <a:endParaRPr kumimoji="1" lang="ko-KR" altLang="en-US" sz="5400" b="1" spc="-150" dirty="0">
              <a:solidFill>
                <a:schemeClr val="tx2">
                  <a:lumMod val="50000"/>
                </a:schemeClr>
              </a:solidFill>
              <a:latin typeface="Nanum Gothic ExtraBold" panose="020D0604000000000000" pitchFamily="34" charset="-127"/>
              <a:ea typeface="Nanum Gothic ExtraBold" panose="020D0604000000000000" pitchFamily="34" charset="-127"/>
              <a:cs typeface="Arial" panose="020B0604020202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868B10-F4D8-084B-9389-7CC8D80FECDE}"/>
              </a:ext>
            </a:extLst>
          </p:cNvPr>
          <p:cNvCxnSpPr/>
          <p:nvPr/>
        </p:nvCxnSpPr>
        <p:spPr>
          <a:xfrm>
            <a:off x="0" y="750627"/>
            <a:ext cx="9608024" cy="0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87F21173-3E8A-4249-8C1D-F897ADD01C9C}"/>
              </a:ext>
            </a:extLst>
          </p:cNvPr>
          <p:cNvSpPr/>
          <p:nvPr/>
        </p:nvSpPr>
        <p:spPr>
          <a:xfrm>
            <a:off x="0" y="750626"/>
            <a:ext cx="6373504" cy="126193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70AE46"/>
              </a:solidFill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0C282BF2-8F0B-7A41-A48E-9E0A20969515}"/>
              </a:ext>
            </a:extLst>
          </p:cNvPr>
          <p:cNvSpPr txBox="1">
            <a:spLocks/>
          </p:cNvSpPr>
          <p:nvPr/>
        </p:nvSpPr>
        <p:spPr>
          <a:xfrm>
            <a:off x="9171148" y="3133299"/>
            <a:ext cx="1779350" cy="9301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ko-KR" sz="2800" b="1" dirty="0">
                <a:solidFill>
                  <a:schemeClr val="tx2">
                    <a:lumMod val="50000"/>
                  </a:schemeClr>
                </a:solidFill>
                <a:latin typeface="Nanum Gothic ExtraBold" panose="020D0604000000000000" pitchFamily="34" charset="-127"/>
                <a:ea typeface="Nanum Gothic ExtraBold" panose="020D0604000000000000" pitchFamily="34" charset="-127"/>
                <a:cs typeface="Arial" panose="020B0604020202020204" pitchFamily="34" charset="0"/>
              </a:rPr>
              <a:t>Final</a:t>
            </a:r>
            <a:endParaRPr kumimoji="1" lang="ko-KR" altLang="en-US" sz="2800" b="1" dirty="0">
              <a:solidFill>
                <a:schemeClr val="tx2">
                  <a:lumMod val="50000"/>
                </a:schemeClr>
              </a:solidFill>
              <a:latin typeface="Nanum Gothic ExtraBold" panose="020D0604000000000000" pitchFamily="34" charset="-127"/>
              <a:ea typeface="Nanum Gothic ExtraBold" panose="020D0604000000000000" pitchFamily="34" charset="-127"/>
              <a:cs typeface="Arial" panose="020B0604020202020204" pitchFamily="34" charset="0"/>
            </a:endParaRPr>
          </a:p>
        </p:txBody>
      </p:sp>
      <p:sp>
        <p:nvSpPr>
          <p:cNvPr id="10" name="부제목 2">
            <a:extLst>
              <a:ext uri="{FF2B5EF4-FFF2-40B4-BE49-F238E27FC236}">
                <a16:creationId xmlns:a16="http://schemas.microsoft.com/office/drawing/2014/main" id="{9C05F84F-2E20-6D4C-8694-3A2546CDE33C}"/>
              </a:ext>
            </a:extLst>
          </p:cNvPr>
          <p:cNvSpPr txBox="1">
            <a:spLocks/>
          </p:cNvSpPr>
          <p:nvPr/>
        </p:nvSpPr>
        <p:spPr>
          <a:xfrm>
            <a:off x="9266663" y="5542258"/>
            <a:ext cx="2834041" cy="11302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ko-KR" sz="1600" b="1" dirty="0">
                <a:ea typeface="HGSSoeiKakugothicUB" panose="020B0400000000000000" pitchFamily="34" charset="-128"/>
                <a:cs typeface="Arial" panose="020B0604020202020204" pitchFamily="34" charset="0"/>
              </a:rPr>
              <a:t>15146302 Kang, </a:t>
            </a:r>
            <a:r>
              <a:rPr kumimoji="1" lang="en-US" altLang="ko-KR" sz="1600" b="1" dirty="0" err="1">
                <a:ea typeface="HGSSoeiKakugothicUB" panose="020B0400000000000000" pitchFamily="34" charset="-128"/>
                <a:cs typeface="Arial" panose="020B0604020202020204" pitchFamily="34" charset="0"/>
              </a:rPr>
              <a:t>Euiheyon</a:t>
            </a:r>
            <a:endParaRPr kumimoji="1" lang="en-US" altLang="ko-KR" sz="1600" b="1" dirty="0">
              <a:ea typeface="HGSSoeiKakugothicUB" panose="020B0400000000000000" pitchFamily="34" charset="-128"/>
              <a:cs typeface="Arial" panose="020B0604020202020204" pitchFamily="34" charset="0"/>
            </a:endParaRPr>
          </a:p>
          <a:p>
            <a:pPr algn="l"/>
            <a:r>
              <a:rPr lang="en-US" altLang="ko-KR" sz="1600" b="1" dirty="0">
                <a:ea typeface="HGSSoeiKakugothicUB" panose="020B0400000000000000" pitchFamily="34" charset="-128"/>
                <a:cs typeface="Arial" panose="020B0604020202020204" pitchFamily="34" charset="0"/>
              </a:rPr>
              <a:t>15146304 Ku, Seunghyo</a:t>
            </a:r>
          </a:p>
          <a:p>
            <a:pPr algn="l"/>
            <a:r>
              <a:rPr kumimoji="1" lang="en-US" altLang="ko-KR" sz="1600" b="1" dirty="0">
                <a:ea typeface="HGSSoeiKakugothicUB" panose="020B0400000000000000" pitchFamily="34" charset="-128"/>
                <a:cs typeface="Arial" panose="020B0604020202020204" pitchFamily="34" charset="0"/>
              </a:rPr>
              <a:t>15146312 Park, </a:t>
            </a:r>
            <a:r>
              <a:rPr kumimoji="1" lang="en-US" altLang="ko-KR" sz="1600" b="1" dirty="0" err="1">
                <a:ea typeface="HGSSoeiKakugothicUB" panose="020B0400000000000000" pitchFamily="34" charset="-128"/>
                <a:cs typeface="Arial" panose="020B0604020202020204" pitchFamily="34" charset="0"/>
              </a:rPr>
              <a:t>Gangmin</a:t>
            </a:r>
            <a:endParaRPr kumimoji="1" lang="en-US" altLang="ko-KR" sz="1600" b="1" dirty="0">
              <a:ea typeface="HGSSoeiKakugothicUB" panose="020B0400000000000000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011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4">
            <a:extLst>
              <a:ext uri="{FF2B5EF4-FFF2-40B4-BE49-F238E27FC236}">
                <a16:creationId xmlns:a16="http://schemas.microsoft.com/office/drawing/2014/main" id="{77A814D4-2A9E-F44A-B472-191A5277F24B}"/>
              </a:ext>
            </a:extLst>
          </p:cNvPr>
          <p:cNvSpPr txBox="1"/>
          <p:nvPr/>
        </p:nvSpPr>
        <p:spPr>
          <a:xfrm>
            <a:off x="4137090" y="1166842"/>
            <a:ext cx="612705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ea"/>
                <a:sym typeface="Calibri" panose="020F0502020204030204" pitchFamily="34" charset="0"/>
              </a:rPr>
              <a:t>Introduction -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ea"/>
                <a:sym typeface="Calibri" panose="020F0502020204030204" pitchFamily="34" charset="0"/>
              </a:rPr>
              <a:t>승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  <a:cs typeface="+mn-ea"/>
              <a:sym typeface="Calibri" panose="020F0502020204030204" pitchFamily="34" charset="0"/>
            </a:endParaRPr>
          </a:p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zh-CN" sz="3200" b="1" dirty="0">
                <a:solidFill>
                  <a:schemeClr val="accent6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ea"/>
                <a:sym typeface="Calibri" panose="020F0502020204030204" pitchFamily="34" charset="0"/>
              </a:rPr>
              <a:t>Data</a:t>
            </a:r>
          </a:p>
          <a:p>
            <a:pPr lvl="1" latinLnBrk="0">
              <a:defRPr/>
            </a:pPr>
            <a:r>
              <a:rPr lang="en-US" altLang="zh-CN" sz="3200" b="1" dirty="0">
                <a:solidFill>
                  <a:schemeClr val="accent6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ea"/>
                <a:sym typeface="Calibri" panose="020F0502020204030204" pitchFamily="34" charset="0"/>
              </a:rPr>
              <a:t>2.1  Data Collection - </a:t>
            </a:r>
            <a:r>
              <a:rPr lang="ko-KR" altLang="en-US" sz="3200" b="1" dirty="0">
                <a:solidFill>
                  <a:schemeClr val="accent6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ea"/>
                <a:sym typeface="Calibri" panose="020F0502020204030204" pitchFamily="34" charset="0"/>
              </a:rPr>
              <a:t>의</a:t>
            </a:r>
            <a:endParaRPr lang="en-US" altLang="zh-CN" sz="3200" b="1" dirty="0">
              <a:solidFill>
                <a:schemeClr val="accent6"/>
              </a:solidFill>
              <a:latin typeface="Calibri" panose="020F0502020204030204" pitchFamily="34" charset="0"/>
              <a:ea typeface="微软雅黑" panose="020B0503020204020204" pitchFamily="34" charset="-122"/>
              <a:cs typeface="+mn-ea"/>
              <a:sym typeface="Calibri" panose="020F0502020204030204" pitchFamily="34" charset="0"/>
            </a:endParaRPr>
          </a:p>
          <a:p>
            <a:pPr lvl="1" latinLnBrk="0">
              <a:defRPr/>
            </a:pPr>
            <a:r>
              <a:rPr lang="en-US" altLang="zh-CN" sz="3200" b="1" dirty="0">
                <a:solidFill>
                  <a:schemeClr val="accent6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ea"/>
                <a:sym typeface="Calibri" panose="020F0502020204030204" pitchFamily="34" charset="0"/>
              </a:rPr>
              <a:t>2.2  Data Preprocessing - </a:t>
            </a:r>
            <a:r>
              <a:rPr lang="ko-KR" altLang="en-US" sz="3200" b="1" dirty="0">
                <a:solidFill>
                  <a:schemeClr val="accent6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ea"/>
                <a:sym typeface="Calibri" panose="020F0502020204030204" pitchFamily="34" charset="0"/>
              </a:rPr>
              <a:t>의</a:t>
            </a:r>
            <a:endParaRPr lang="en-US" altLang="zh-CN" sz="3200" b="1" dirty="0">
              <a:solidFill>
                <a:schemeClr val="accent6"/>
              </a:solidFill>
              <a:latin typeface="Calibri" panose="020F0502020204030204" pitchFamily="34" charset="0"/>
              <a:ea typeface="微软雅黑" panose="020B0503020204020204" pitchFamily="34" charset="-122"/>
              <a:cs typeface="+mn-ea"/>
              <a:sym typeface="Calibri" panose="020F0502020204030204" pitchFamily="34" charset="0"/>
            </a:endParaRPr>
          </a:p>
          <a:p>
            <a:pPr lvl="1" latinLnBrk="0">
              <a:defRPr/>
            </a:pPr>
            <a:r>
              <a:rPr lang="en-US" altLang="zh-CN" sz="3200" b="1" dirty="0">
                <a:solidFill>
                  <a:schemeClr val="accent6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ea"/>
                <a:sym typeface="Calibri" panose="020F0502020204030204" pitchFamily="34" charset="0"/>
              </a:rPr>
              <a:t>2.3  EDA - </a:t>
            </a:r>
            <a:r>
              <a:rPr lang="ko-KR" altLang="en-US" sz="3200" b="1" dirty="0">
                <a:solidFill>
                  <a:schemeClr val="accent6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ea"/>
                <a:sym typeface="Calibri" panose="020F0502020204030204" pitchFamily="34" charset="0"/>
              </a:rPr>
              <a:t>의</a:t>
            </a:r>
            <a:endParaRPr lang="en-US" altLang="zh-CN" sz="3200" b="1" dirty="0">
              <a:solidFill>
                <a:schemeClr val="accent6"/>
              </a:solidFill>
              <a:latin typeface="Calibri" panose="020F0502020204030204" pitchFamily="34" charset="0"/>
              <a:ea typeface="微软雅黑" panose="020B0503020204020204" pitchFamily="34" charset="-122"/>
              <a:cs typeface="+mn-ea"/>
              <a:sym typeface="Calibri" panose="020F0502020204030204" pitchFamily="34" charset="0"/>
            </a:endParaRPr>
          </a:p>
          <a:p>
            <a:pPr marL="514350" lvl="0" indent="-514350" latinLnBrk="0">
              <a:buFontTx/>
              <a:buAutoNum type="arabicPeriod"/>
              <a:defRPr/>
            </a:pPr>
            <a:r>
              <a:rPr lang="en-US" altLang="zh-CN" sz="3200" b="1" dirty="0">
                <a:solidFill>
                  <a:schemeClr val="accent6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ea"/>
                <a:sym typeface="Calibri" panose="020F0502020204030204" pitchFamily="34" charset="0"/>
              </a:rPr>
              <a:t>Model</a:t>
            </a:r>
          </a:p>
          <a:p>
            <a:pPr lvl="1" latinLnBrk="0">
              <a:defRPr/>
            </a:pPr>
            <a:r>
              <a:rPr lang="en-US" altLang="zh-CN" sz="3200" b="1" dirty="0">
                <a:solidFill>
                  <a:schemeClr val="accent6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ea"/>
                <a:sym typeface="Calibri" panose="020F0502020204030204" pitchFamily="34" charset="0"/>
              </a:rPr>
              <a:t>3.1  Model Training - </a:t>
            </a:r>
            <a:r>
              <a:rPr lang="ko-KR" altLang="en-US" sz="3200" b="1" dirty="0">
                <a:solidFill>
                  <a:schemeClr val="accent6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ea"/>
                <a:sym typeface="Calibri" panose="020F0502020204030204" pitchFamily="34" charset="0"/>
              </a:rPr>
              <a:t>박</a:t>
            </a:r>
            <a:endParaRPr lang="en-US" altLang="zh-CN" sz="3200" b="1" dirty="0">
              <a:solidFill>
                <a:schemeClr val="accent6"/>
              </a:solidFill>
              <a:latin typeface="Calibri" panose="020F0502020204030204" pitchFamily="34" charset="0"/>
              <a:ea typeface="微软雅黑" panose="020B0503020204020204" pitchFamily="34" charset="-122"/>
              <a:cs typeface="+mn-ea"/>
              <a:sym typeface="Calibri" panose="020F0502020204030204" pitchFamily="34" charset="0"/>
            </a:endParaRPr>
          </a:p>
          <a:p>
            <a:pPr lvl="1" latinLnBrk="0">
              <a:defRPr/>
            </a:pPr>
            <a:r>
              <a:rPr lang="en-US" altLang="zh-CN" sz="3200" b="1" dirty="0">
                <a:solidFill>
                  <a:schemeClr val="accent6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ea"/>
                <a:sym typeface="Calibri" panose="020F0502020204030204" pitchFamily="34" charset="0"/>
              </a:rPr>
              <a:t>3.2  Model Validation – </a:t>
            </a:r>
            <a:r>
              <a:rPr lang="ko-KR" altLang="en-US" sz="3200" b="1" dirty="0">
                <a:solidFill>
                  <a:schemeClr val="accent6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ea"/>
                <a:sym typeface="Calibri" panose="020F0502020204030204" pitchFamily="34" charset="0"/>
              </a:rPr>
              <a:t>박</a:t>
            </a:r>
            <a:endParaRPr lang="en-US" altLang="ko-KR" sz="3200" b="1" dirty="0">
              <a:solidFill>
                <a:schemeClr val="accent6"/>
              </a:solidFill>
              <a:latin typeface="Calibri" panose="020F0502020204030204" pitchFamily="34" charset="0"/>
              <a:ea typeface="微软雅黑" panose="020B0503020204020204" pitchFamily="34" charset="-122"/>
              <a:cs typeface="+mn-ea"/>
              <a:sym typeface="Calibri" panose="020F0502020204030204" pitchFamily="34" charset="0"/>
            </a:endParaRPr>
          </a:p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zh-CN" sz="3200" b="1" dirty="0">
                <a:solidFill>
                  <a:schemeClr val="accent6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ea"/>
                <a:sym typeface="Calibri" panose="020F0502020204030204" pitchFamily="34" charset="0"/>
              </a:rPr>
              <a:t>Conclusion - </a:t>
            </a:r>
            <a:r>
              <a:rPr lang="ko-KR" altLang="en-US" sz="3200" b="1" dirty="0">
                <a:solidFill>
                  <a:schemeClr val="accent6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ea"/>
                <a:sym typeface="Calibri" panose="020F0502020204030204" pitchFamily="34" charset="0"/>
              </a:rPr>
              <a:t>승</a:t>
            </a:r>
            <a:endParaRPr lang="en-US" altLang="zh-CN" sz="3200" b="1" dirty="0">
              <a:solidFill>
                <a:schemeClr val="accent6"/>
              </a:solidFill>
              <a:latin typeface="Calibri" panose="020F0502020204030204" pitchFamily="34" charset="0"/>
              <a:ea typeface="微软雅黑" panose="020B0503020204020204" pitchFamily="34" charset="-122"/>
              <a:cs typeface="+mn-ea"/>
              <a:sym typeface="Calibri" panose="020F0502020204030204" pitchFamily="34" charset="0"/>
            </a:endParaRPr>
          </a:p>
        </p:txBody>
      </p:sp>
      <p:sp>
        <p:nvSpPr>
          <p:cNvPr id="30" name="矩形 8">
            <a:extLst>
              <a:ext uri="{FF2B5EF4-FFF2-40B4-BE49-F238E27FC236}">
                <a16:creationId xmlns:a16="http://schemas.microsoft.com/office/drawing/2014/main" id="{92EE409D-DA8B-E943-A73D-2F41C8415BDC}"/>
              </a:ext>
            </a:extLst>
          </p:cNvPr>
          <p:cNvSpPr/>
          <p:nvPr/>
        </p:nvSpPr>
        <p:spPr>
          <a:xfrm>
            <a:off x="576056" y="578099"/>
            <a:ext cx="1640719" cy="210549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31" name="矩形 33">
            <a:extLst>
              <a:ext uri="{FF2B5EF4-FFF2-40B4-BE49-F238E27FC236}">
                <a16:creationId xmlns:a16="http://schemas.microsoft.com/office/drawing/2014/main" id="{37162FA4-F24C-CF4F-9A38-BA5362BED479}"/>
              </a:ext>
            </a:extLst>
          </p:cNvPr>
          <p:cNvSpPr/>
          <p:nvPr/>
        </p:nvSpPr>
        <p:spPr>
          <a:xfrm>
            <a:off x="1094753" y="1167744"/>
            <a:ext cx="2188803" cy="210549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  <a:sym typeface="Arial" panose="020B0604020202020204" pitchFamily="34" charset="0"/>
              </a:rPr>
              <a:t>CONTENTS</a:t>
            </a:r>
            <a:endParaRPr lang="zh-CN" altLang="en-US" sz="2800" b="1" dirty="0">
              <a:solidFill>
                <a:schemeClr val="bg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  <a:sym typeface="Arial" panose="020B0604020202020204" pitchFamily="34" charset="0"/>
            </a:endParaRPr>
          </a:p>
        </p:txBody>
      </p:sp>
      <p:pic>
        <p:nvPicPr>
          <p:cNvPr id="1026" name="Picture 2" descr="김치, 아이콘, 일러스트, 벡터, 고추">
            <a:extLst>
              <a:ext uri="{FF2B5EF4-FFF2-40B4-BE49-F238E27FC236}">
                <a16:creationId xmlns:a16="http://schemas.microsoft.com/office/drawing/2014/main" id="{BB3D02F4-8028-4D96-B7D1-76783BC247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3054" b="94784" l="6723" r="60504">
                        <a14:foregroundMark x1="54308" y1="63692" x2="52615" y2="74154"/>
                        <a14:foregroundMark x1="58923" y1="64769" x2="59692" y2="727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7838" r="59634"/>
          <a:stretch/>
        </p:blipFill>
        <p:spPr bwMode="auto">
          <a:xfrm rot="694850">
            <a:off x="2587128" y="2341246"/>
            <a:ext cx="1384478" cy="1789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943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">
            <a:extLst>
              <a:ext uri="{FF2B5EF4-FFF2-40B4-BE49-F238E27FC236}">
                <a16:creationId xmlns:a16="http://schemas.microsoft.com/office/drawing/2014/main" id="{601E0D97-DAFA-344B-B290-30ED128B63CE}"/>
              </a:ext>
            </a:extLst>
          </p:cNvPr>
          <p:cNvSpPr txBox="1"/>
          <p:nvPr/>
        </p:nvSpPr>
        <p:spPr>
          <a:xfrm>
            <a:off x="3387969" y="2284936"/>
            <a:ext cx="5416062" cy="2018897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 latinLnBrk="0">
              <a:defRPr/>
            </a:pPr>
            <a:r>
              <a:rPr lang="en-US" altLang="ko-KR" sz="54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ea"/>
                <a:sym typeface="Calibri" panose="020F0502020204030204" pitchFamily="34" charset="0"/>
              </a:rPr>
              <a:t>1. Introduction</a:t>
            </a:r>
            <a:endParaRPr lang="en-US" altLang="zh-CN" sz="5400" b="1" dirty="0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+mn-ea"/>
              <a:sym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AAE8E6-9C0A-6B41-9582-A1BE8A207610}"/>
              </a:ext>
            </a:extLst>
          </p:cNvPr>
          <p:cNvSpPr txBox="1"/>
          <p:nvPr/>
        </p:nvSpPr>
        <p:spPr>
          <a:xfrm>
            <a:off x="5275385" y="199206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cxnSp>
        <p:nvCxnSpPr>
          <p:cNvPr id="8" name="Straight Connector 5">
            <a:extLst>
              <a:ext uri="{FF2B5EF4-FFF2-40B4-BE49-F238E27FC236}">
                <a16:creationId xmlns:a16="http://schemas.microsoft.com/office/drawing/2014/main" id="{CB3A8313-4A6F-4A4A-848E-CC5A847CE3B7}"/>
              </a:ext>
            </a:extLst>
          </p:cNvPr>
          <p:cNvCxnSpPr/>
          <p:nvPr/>
        </p:nvCxnSpPr>
        <p:spPr>
          <a:xfrm>
            <a:off x="0" y="3438066"/>
            <a:ext cx="9608024" cy="0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6">
            <a:extLst>
              <a:ext uri="{FF2B5EF4-FFF2-40B4-BE49-F238E27FC236}">
                <a16:creationId xmlns:a16="http://schemas.microsoft.com/office/drawing/2014/main" id="{C8E03941-2129-440E-B933-F39939171DFC}"/>
              </a:ext>
            </a:extLst>
          </p:cNvPr>
          <p:cNvSpPr/>
          <p:nvPr/>
        </p:nvSpPr>
        <p:spPr>
          <a:xfrm>
            <a:off x="0" y="3438065"/>
            <a:ext cx="6373504" cy="126193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70AE46"/>
              </a:solidFill>
            </a:endParaRPr>
          </a:p>
        </p:txBody>
      </p:sp>
      <p:pic>
        <p:nvPicPr>
          <p:cNvPr id="10" name="Picture 2" descr="김치, 아이콘, 일러스트, 벡터, 고추">
            <a:extLst>
              <a:ext uri="{FF2B5EF4-FFF2-40B4-BE49-F238E27FC236}">
                <a16:creationId xmlns:a16="http://schemas.microsoft.com/office/drawing/2014/main" id="{BC0C207A-C140-4E69-8BA2-261904DEB0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3054" b="94784" l="6723" r="60504">
                        <a14:foregroundMark x1="54308" y1="63692" x2="52615" y2="74154"/>
                        <a14:foregroundMark x1="58923" y1="64769" x2="59692" y2="727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7838" r="59634"/>
          <a:stretch/>
        </p:blipFill>
        <p:spPr bwMode="auto">
          <a:xfrm rot="999380">
            <a:off x="8870896" y="2027621"/>
            <a:ext cx="1384478" cy="1789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4385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5">
            <a:extLst>
              <a:ext uri="{FF2B5EF4-FFF2-40B4-BE49-F238E27FC236}">
                <a16:creationId xmlns:a16="http://schemas.microsoft.com/office/drawing/2014/main" id="{9C2AE5D3-552F-504E-A0A2-F60FB9EECE08}"/>
              </a:ext>
            </a:extLst>
          </p:cNvPr>
          <p:cNvCxnSpPr>
            <a:cxnSpLocks/>
          </p:cNvCxnSpPr>
          <p:nvPr/>
        </p:nvCxnSpPr>
        <p:spPr>
          <a:xfrm flipV="1">
            <a:off x="0" y="693585"/>
            <a:ext cx="11674136" cy="2"/>
          </a:xfrm>
          <a:prstGeom prst="line">
            <a:avLst/>
          </a:prstGeom>
          <a:ln w="12700">
            <a:solidFill>
              <a:srgbClr val="70AE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6">
            <a:extLst>
              <a:ext uri="{FF2B5EF4-FFF2-40B4-BE49-F238E27FC236}">
                <a16:creationId xmlns:a16="http://schemas.microsoft.com/office/drawing/2014/main" id="{4AFFB448-6F69-0646-982F-E2EC1AC5D828}"/>
              </a:ext>
            </a:extLst>
          </p:cNvPr>
          <p:cNvSpPr/>
          <p:nvPr/>
        </p:nvSpPr>
        <p:spPr>
          <a:xfrm>
            <a:off x="0" y="693585"/>
            <a:ext cx="6373504" cy="126193"/>
          </a:xfrm>
          <a:prstGeom prst="rect">
            <a:avLst/>
          </a:prstGeom>
          <a:solidFill>
            <a:srgbClr val="70AE47"/>
          </a:solidFill>
          <a:ln w="9525">
            <a:solidFill>
              <a:srgbClr val="70AE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1BDBE009-8267-3841-A6A9-6A8D3D829B08}"/>
              </a:ext>
            </a:extLst>
          </p:cNvPr>
          <p:cNvSpPr txBox="1">
            <a:spLocks/>
          </p:cNvSpPr>
          <p:nvPr/>
        </p:nvSpPr>
        <p:spPr>
          <a:xfrm>
            <a:off x="68705" y="97961"/>
            <a:ext cx="6027294" cy="627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0">
              <a:defRPr/>
            </a:pP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 Gothic" panose="020D0604000000000000" pitchFamily="34" charset="-127"/>
                <a:ea typeface="Nanum Gothic" panose="020D0604000000000000" pitchFamily="34" charset="-127"/>
                <a:cs typeface="+mn-ea"/>
                <a:sym typeface="Calibri" panose="020F0502020204030204" pitchFamily="34" charset="0"/>
              </a:rPr>
              <a:t>1. Introduction</a:t>
            </a:r>
          </a:p>
        </p:txBody>
      </p:sp>
    </p:spTree>
    <p:extLst>
      <p:ext uri="{BB962C8B-B14F-4D97-AF65-F5344CB8AC3E}">
        <p14:creationId xmlns:p14="http://schemas.microsoft.com/office/powerpoint/2010/main" val="1345449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">
            <a:extLst>
              <a:ext uri="{FF2B5EF4-FFF2-40B4-BE49-F238E27FC236}">
                <a16:creationId xmlns:a16="http://schemas.microsoft.com/office/drawing/2014/main" id="{601E0D97-DAFA-344B-B290-30ED128B63CE}"/>
              </a:ext>
            </a:extLst>
          </p:cNvPr>
          <p:cNvSpPr txBox="1"/>
          <p:nvPr/>
        </p:nvSpPr>
        <p:spPr>
          <a:xfrm>
            <a:off x="3387969" y="2284936"/>
            <a:ext cx="5416062" cy="2018897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 latinLnBrk="0">
              <a:defRPr/>
            </a:pPr>
            <a:r>
              <a:rPr lang="en-US" altLang="ko-KR" sz="54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ea"/>
                <a:sym typeface="Calibri" panose="020F0502020204030204" pitchFamily="34" charset="0"/>
              </a:rPr>
              <a:t>2. Data</a:t>
            </a:r>
            <a:endParaRPr lang="en-US" altLang="zh-CN" sz="5400" b="1" dirty="0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+mn-ea"/>
              <a:sym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AAE8E6-9C0A-6B41-9582-A1BE8A207610}"/>
              </a:ext>
            </a:extLst>
          </p:cNvPr>
          <p:cNvSpPr txBox="1"/>
          <p:nvPr/>
        </p:nvSpPr>
        <p:spPr>
          <a:xfrm>
            <a:off x="5275385" y="199206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cxnSp>
        <p:nvCxnSpPr>
          <p:cNvPr id="8" name="Straight Connector 5">
            <a:extLst>
              <a:ext uri="{FF2B5EF4-FFF2-40B4-BE49-F238E27FC236}">
                <a16:creationId xmlns:a16="http://schemas.microsoft.com/office/drawing/2014/main" id="{CB3A8313-4A6F-4A4A-848E-CC5A847CE3B7}"/>
              </a:ext>
            </a:extLst>
          </p:cNvPr>
          <p:cNvCxnSpPr/>
          <p:nvPr/>
        </p:nvCxnSpPr>
        <p:spPr>
          <a:xfrm>
            <a:off x="0" y="3438066"/>
            <a:ext cx="9608024" cy="0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6">
            <a:extLst>
              <a:ext uri="{FF2B5EF4-FFF2-40B4-BE49-F238E27FC236}">
                <a16:creationId xmlns:a16="http://schemas.microsoft.com/office/drawing/2014/main" id="{C8E03941-2129-440E-B933-F39939171DFC}"/>
              </a:ext>
            </a:extLst>
          </p:cNvPr>
          <p:cNvSpPr/>
          <p:nvPr/>
        </p:nvSpPr>
        <p:spPr>
          <a:xfrm>
            <a:off x="0" y="3438065"/>
            <a:ext cx="6373504" cy="126193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70AE46"/>
              </a:solidFill>
            </a:endParaRPr>
          </a:p>
        </p:txBody>
      </p:sp>
      <p:pic>
        <p:nvPicPr>
          <p:cNvPr id="10" name="Picture 2" descr="김치, 아이콘, 일러스트, 벡터, 고추">
            <a:extLst>
              <a:ext uri="{FF2B5EF4-FFF2-40B4-BE49-F238E27FC236}">
                <a16:creationId xmlns:a16="http://schemas.microsoft.com/office/drawing/2014/main" id="{BC0C207A-C140-4E69-8BA2-261904DEB0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3054" b="94784" l="6723" r="60504">
                        <a14:foregroundMark x1="54308" y1="63692" x2="52615" y2="74154"/>
                        <a14:foregroundMark x1="58923" y1="64769" x2="59692" y2="727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7838" r="59634"/>
          <a:stretch/>
        </p:blipFill>
        <p:spPr bwMode="auto">
          <a:xfrm rot="999380">
            <a:off x="8870896" y="2027621"/>
            <a:ext cx="1384478" cy="1789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1315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5">
            <a:extLst>
              <a:ext uri="{FF2B5EF4-FFF2-40B4-BE49-F238E27FC236}">
                <a16:creationId xmlns:a16="http://schemas.microsoft.com/office/drawing/2014/main" id="{9C2AE5D3-552F-504E-A0A2-F60FB9EECE08}"/>
              </a:ext>
            </a:extLst>
          </p:cNvPr>
          <p:cNvCxnSpPr>
            <a:cxnSpLocks/>
          </p:cNvCxnSpPr>
          <p:nvPr/>
        </p:nvCxnSpPr>
        <p:spPr>
          <a:xfrm flipV="1">
            <a:off x="0" y="693585"/>
            <a:ext cx="11674136" cy="2"/>
          </a:xfrm>
          <a:prstGeom prst="line">
            <a:avLst/>
          </a:prstGeom>
          <a:ln w="12700">
            <a:solidFill>
              <a:srgbClr val="70AE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6">
            <a:extLst>
              <a:ext uri="{FF2B5EF4-FFF2-40B4-BE49-F238E27FC236}">
                <a16:creationId xmlns:a16="http://schemas.microsoft.com/office/drawing/2014/main" id="{4AFFB448-6F69-0646-982F-E2EC1AC5D828}"/>
              </a:ext>
            </a:extLst>
          </p:cNvPr>
          <p:cNvSpPr/>
          <p:nvPr/>
        </p:nvSpPr>
        <p:spPr>
          <a:xfrm>
            <a:off x="0" y="693585"/>
            <a:ext cx="6373504" cy="126193"/>
          </a:xfrm>
          <a:prstGeom prst="rect">
            <a:avLst/>
          </a:prstGeom>
          <a:solidFill>
            <a:srgbClr val="70AE47"/>
          </a:solidFill>
          <a:ln w="9525">
            <a:solidFill>
              <a:srgbClr val="70AE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1BDBE009-8267-3841-A6A9-6A8D3D829B08}"/>
              </a:ext>
            </a:extLst>
          </p:cNvPr>
          <p:cNvSpPr txBox="1">
            <a:spLocks/>
          </p:cNvSpPr>
          <p:nvPr/>
        </p:nvSpPr>
        <p:spPr>
          <a:xfrm>
            <a:off x="68705" y="97961"/>
            <a:ext cx="6027294" cy="627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0">
              <a:defRPr/>
            </a:pP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 Gothic" panose="020D0604000000000000" pitchFamily="34" charset="-127"/>
                <a:ea typeface="Nanum Gothic" panose="020D0604000000000000" pitchFamily="34" charset="-127"/>
                <a:cs typeface="+mn-ea"/>
                <a:sym typeface="Calibri" panose="020F0502020204030204" pitchFamily="34" charset="0"/>
              </a:rPr>
              <a:t>2.1 Data Collection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409DFC3-9FF8-4235-ADD5-C9A5BD96C1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1068" y="1321138"/>
            <a:ext cx="2286000" cy="42195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818F910-E182-4623-9F09-C4E5F9DFE5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927" y="1319212"/>
            <a:ext cx="2409825" cy="42195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1CDBA4-15A2-4F37-BA25-D0C61AD8C3FA}"/>
              </a:ext>
            </a:extLst>
          </p:cNvPr>
          <p:cNvSpPr txBox="1"/>
          <p:nvPr/>
        </p:nvSpPr>
        <p:spPr>
          <a:xfrm>
            <a:off x="1776565" y="5729520"/>
            <a:ext cx="3112675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b="1" dirty="0"/>
              <a:t>Price of cabbage, radish</a:t>
            </a:r>
          </a:p>
          <a:p>
            <a:pPr algn="ctr">
              <a:lnSpc>
                <a:spcPct val="150000"/>
              </a:lnSpc>
            </a:pPr>
            <a:r>
              <a:rPr lang="en-US" altLang="ko-KR" dirty="0"/>
              <a:t>(2015~2018)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425C2D-5697-4CA0-A825-5319A0C9145C}"/>
              </a:ext>
            </a:extLst>
          </p:cNvPr>
          <p:cNvSpPr txBox="1"/>
          <p:nvPr/>
        </p:nvSpPr>
        <p:spPr>
          <a:xfrm>
            <a:off x="6590910" y="3348989"/>
            <a:ext cx="4824163" cy="1285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latin typeface="210 앱굴림 R" panose="02020603020101020101" pitchFamily="18" charset="-127"/>
                <a:ea typeface="210 앱굴림 R" panose="02020603020101020101" pitchFamily="18" charset="-127"/>
              </a:rPr>
              <a:t>This data set consists of the day-to-day, </a:t>
            </a:r>
            <a:r>
              <a:rPr lang="en-US" altLang="ko-KR" dirty="0">
                <a:solidFill>
                  <a:srgbClr val="FF0000"/>
                </a:solidFill>
                <a:latin typeface="210 앱굴림 R" panose="02020603020101020101" pitchFamily="18" charset="-127"/>
                <a:ea typeface="210 앱굴림 R" panose="02020603020101020101" pitchFamily="18" charset="-127"/>
              </a:rPr>
              <a:t>average wholesale price by region</a:t>
            </a:r>
            <a:r>
              <a:rPr lang="en-US" altLang="ko-KR" dirty="0">
                <a:latin typeface="210 앱굴림 R" panose="02020603020101020101" pitchFamily="18" charset="-127"/>
                <a:ea typeface="210 앱굴림 R" panose="02020603020101020101" pitchFamily="18" charset="-127"/>
              </a:rPr>
              <a:t>, and the </a:t>
            </a:r>
            <a:r>
              <a:rPr lang="en-US" altLang="ko-KR" dirty="0">
                <a:solidFill>
                  <a:srgbClr val="FF0000"/>
                </a:solidFill>
                <a:latin typeface="210 앱굴림 R" panose="02020603020101020101" pitchFamily="18" charset="-127"/>
                <a:ea typeface="210 앱굴림 R" panose="02020603020101020101" pitchFamily="18" charset="-127"/>
              </a:rPr>
              <a:t>normal year price </a:t>
            </a:r>
            <a:r>
              <a:rPr lang="en-US" altLang="ko-KR" dirty="0">
                <a:latin typeface="210 앱굴림 R" panose="02020603020101020101" pitchFamily="18" charset="-127"/>
                <a:ea typeface="210 앱굴림 R" panose="02020603020101020101" pitchFamily="18" charset="-127"/>
              </a:rPr>
              <a:t>from 2015 to 2018.</a:t>
            </a:r>
            <a:endParaRPr lang="ko-KR" altLang="en-US" dirty="0">
              <a:latin typeface="210 앱굴림 R" panose="02020603020101020101" pitchFamily="18" charset="-127"/>
              <a:ea typeface="210 앱굴림 R" panose="0202060302010102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311444-ED3C-44F4-B6BE-9EE894CD9E13}"/>
              </a:ext>
            </a:extLst>
          </p:cNvPr>
          <p:cNvSpPr txBox="1"/>
          <p:nvPr/>
        </p:nvSpPr>
        <p:spPr>
          <a:xfrm>
            <a:off x="6526542" y="6168423"/>
            <a:ext cx="53974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3663" indent="-93663"/>
            <a:r>
              <a:rPr lang="en-US" altLang="ko-KR" sz="1100" dirty="0">
                <a:latin typeface="210 앱굴림 R" panose="02020603020101020101" pitchFamily="18" charset="-127"/>
                <a:ea typeface="210 앱굴림 R" panose="02020603020101020101" pitchFamily="18" charset="-127"/>
              </a:rPr>
              <a:t>* Normal Year price excluding maximum and minimum values in the data for the five-year period based on this year's data</a:t>
            </a:r>
            <a:endParaRPr lang="ko-KR" altLang="en-US" sz="1100" dirty="0">
              <a:latin typeface="210 앱굴림 R" panose="02020603020101020101" pitchFamily="18" charset="-127"/>
              <a:ea typeface="210 앱굴림 R" panose="02020603020101020101" pitchFamily="18" charset="-127"/>
            </a:endParaRP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1CE2FF26-C494-403C-BF01-F0015C641F94}"/>
              </a:ext>
            </a:extLst>
          </p:cNvPr>
          <p:cNvSpPr txBox="1">
            <a:spLocks/>
          </p:cNvSpPr>
          <p:nvPr/>
        </p:nvSpPr>
        <p:spPr>
          <a:xfrm>
            <a:off x="6491838" y="2195804"/>
            <a:ext cx="5022306" cy="627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0">
              <a:defRPr/>
            </a:pP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 Gothic" panose="020D0604000000000000" pitchFamily="34" charset="-127"/>
                <a:ea typeface="Nanum Gothic" panose="020D0604000000000000" pitchFamily="34" charset="-127"/>
                <a:cs typeface="+mn-ea"/>
                <a:sym typeface="Calibri" panose="020F0502020204030204" pitchFamily="34" charset="0"/>
              </a:rPr>
              <a:t>Agricultural Transaction data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E72A2B-9D8B-4227-8A36-0E3D7B6A899A}"/>
              </a:ext>
            </a:extLst>
          </p:cNvPr>
          <p:cNvSpPr txBox="1"/>
          <p:nvPr/>
        </p:nvSpPr>
        <p:spPr>
          <a:xfrm>
            <a:off x="9955194" y="323104"/>
            <a:ext cx="19687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www.kamis.or.kr</a:t>
            </a:r>
            <a:endParaRPr lang="ko-KR" altLang="en-US" sz="16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88C1400-1F2B-4A95-B59E-A1212F11C7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0193" y="244433"/>
            <a:ext cx="1160884" cy="449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454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6">
            <a:extLst>
              <a:ext uri="{FF2B5EF4-FFF2-40B4-BE49-F238E27FC236}">
                <a16:creationId xmlns:a16="http://schemas.microsoft.com/office/drawing/2014/main" id="{4AFFB448-6F69-0646-982F-E2EC1AC5D828}"/>
              </a:ext>
            </a:extLst>
          </p:cNvPr>
          <p:cNvSpPr/>
          <p:nvPr/>
        </p:nvSpPr>
        <p:spPr>
          <a:xfrm>
            <a:off x="0" y="693585"/>
            <a:ext cx="6373504" cy="126193"/>
          </a:xfrm>
          <a:prstGeom prst="rect">
            <a:avLst/>
          </a:prstGeom>
          <a:solidFill>
            <a:srgbClr val="70AE47"/>
          </a:solidFill>
          <a:ln w="9525">
            <a:solidFill>
              <a:srgbClr val="70AE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1BDBE009-8267-3841-A6A9-6A8D3D829B08}"/>
              </a:ext>
            </a:extLst>
          </p:cNvPr>
          <p:cNvSpPr txBox="1">
            <a:spLocks/>
          </p:cNvSpPr>
          <p:nvPr/>
        </p:nvSpPr>
        <p:spPr>
          <a:xfrm>
            <a:off x="5705381" y="1556664"/>
            <a:ext cx="6027294" cy="627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0">
              <a:defRPr/>
            </a:pP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 Gothic" panose="020D0604000000000000" pitchFamily="34" charset="-127"/>
                <a:ea typeface="Nanum Gothic" panose="020D0604000000000000" pitchFamily="34" charset="-127"/>
                <a:cs typeface="+mn-ea"/>
                <a:sym typeface="Calibri" panose="020F0502020204030204" pitchFamily="34" charset="0"/>
              </a:rPr>
              <a:t>Imported Agricultural Product data </a:t>
            </a:r>
          </a:p>
        </p:txBody>
      </p:sp>
      <p:cxnSp>
        <p:nvCxnSpPr>
          <p:cNvPr id="18" name="Straight Connector 5">
            <a:extLst>
              <a:ext uri="{FF2B5EF4-FFF2-40B4-BE49-F238E27FC236}">
                <a16:creationId xmlns:a16="http://schemas.microsoft.com/office/drawing/2014/main" id="{9C2AE5D3-552F-504E-A0A2-F60FB9EECE08}"/>
              </a:ext>
            </a:extLst>
          </p:cNvPr>
          <p:cNvCxnSpPr>
            <a:cxnSpLocks/>
          </p:cNvCxnSpPr>
          <p:nvPr/>
        </p:nvCxnSpPr>
        <p:spPr>
          <a:xfrm flipV="1">
            <a:off x="0" y="693585"/>
            <a:ext cx="11674136" cy="2"/>
          </a:xfrm>
          <a:prstGeom prst="line">
            <a:avLst/>
          </a:prstGeom>
          <a:ln w="12700">
            <a:solidFill>
              <a:srgbClr val="70AE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>
            <a:extLst>
              <a:ext uri="{FF2B5EF4-FFF2-40B4-BE49-F238E27FC236}">
                <a16:creationId xmlns:a16="http://schemas.microsoft.com/office/drawing/2014/main" id="{A47E2549-6C29-4623-9E3C-E22721B5D2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7887" y="1289211"/>
            <a:ext cx="2041169" cy="43910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EF8DC94-6511-48A2-9D13-CD5C7E3AC1DA}"/>
              </a:ext>
            </a:extLst>
          </p:cNvPr>
          <p:cNvSpPr txBox="1"/>
          <p:nvPr/>
        </p:nvSpPr>
        <p:spPr>
          <a:xfrm>
            <a:off x="637731" y="5890357"/>
            <a:ext cx="47586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Volume and Price of imported cabbage</a:t>
            </a:r>
          </a:p>
          <a:p>
            <a:pPr algn="ctr"/>
            <a:r>
              <a:rPr lang="en-US" altLang="ko-KR" dirty="0"/>
              <a:t>(2015 – 2018)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2F89F4B-DECB-4850-BE8C-022017E581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0828" y="127883"/>
            <a:ext cx="870760" cy="50990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9D87A09-1D04-4A9B-A03D-B4E49CDF5EDB}"/>
              </a:ext>
            </a:extLst>
          </p:cNvPr>
          <p:cNvSpPr txBox="1"/>
          <p:nvPr/>
        </p:nvSpPr>
        <p:spPr>
          <a:xfrm>
            <a:off x="10748296" y="323104"/>
            <a:ext cx="19687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Kati.net</a:t>
            </a:r>
            <a:endParaRPr lang="ko-KR" altLang="en-US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467E9A-8E9D-4862-8F78-AED3D064CFB1}"/>
              </a:ext>
            </a:extLst>
          </p:cNvPr>
          <p:cNvSpPr txBox="1"/>
          <p:nvPr/>
        </p:nvSpPr>
        <p:spPr>
          <a:xfrm>
            <a:off x="6373504" y="3047295"/>
            <a:ext cx="4851223" cy="874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latin typeface="210 앱굴림 R" panose="02020603020101020101" pitchFamily="18" charset="-127"/>
                <a:ea typeface="210 앱굴림 R" panose="02020603020101020101" pitchFamily="18" charset="-127"/>
              </a:rPr>
              <a:t>This data set consists of monthly </a:t>
            </a:r>
            <a:r>
              <a:rPr lang="en-US" altLang="ko-KR" dirty="0">
                <a:solidFill>
                  <a:srgbClr val="FF0000"/>
                </a:solidFill>
                <a:latin typeface="210 앱굴림 R" panose="02020603020101020101" pitchFamily="18" charset="-127"/>
                <a:ea typeface="210 앱굴림 R" panose="02020603020101020101" pitchFamily="18" charset="-127"/>
              </a:rPr>
              <a:t>cabbage import volume </a:t>
            </a:r>
            <a:r>
              <a:rPr lang="en-US" altLang="ko-KR" dirty="0">
                <a:latin typeface="210 앱굴림 R" panose="02020603020101020101" pitchFamily="18" charset="-127"/>
                <a:ea typeface="210 앱굴림 R" panose="02020603020101020101" pitchFamily="18" charset="-127"/>
              </a:rPr>
              <a:t>and </a:t>
            </a:r>
            <a:r>
              <a:rPr lang="en-US" altLang="ko-KR" dirty="0">
                <a:solidFill>
                  <a:srgbClr val="FF0000"/>
                </a:solidFill>
                <a:latin typeface="210 앱굴림 R" panose="02020603020101020101" pitchFamily="18" charset="-127"/>
                <a:ea typeface="210 앱굴림 R" panose="02020603020101020101" pitchFamily="18" charset="-127"/>
              </a:rPr>
              <a:t>import price</a:t>
            </a:r>
            <a:r>
              <a:rPr lang="en-US" altLang="ko-KR" dirty="0">
                <a:latin typeface="210 앱굴림 R" panose="02020603020101020101" pitchFamily="18" charset="-127"/>
                <a:ea typeface="210 앱굴림 R" panose="02020603020101020101" pitchFamily="18" charset="-127"/>
              </a:rPr>
              <a:t>.</a:t>
            </a:r>
            <a:endParaRPr lang="ko-KR" altLang="en-US" dirty="0">
              <a:latin typeface="210 앱굴림 R" panose="02020603020101020101" pitchFamily="18" charset="-127"/>
              <a:ea typeface="210 앱굴림 R" panose="02020603020101020101" pitchFamily="18" charset="-127"/>
            </a:endParaRP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90E20C9E-D626-43E4-B0D3-8EDFCB1A7ADF}"/>
              </a:ext>
            </a:extLst>
          </p:cNvPr>
          <p:cNvSpPr txBox="1">
            <a:spLocks/>
          </p:cNvSpPr>
          <p:nvPr/>
        </p:nvSpPr>
        <p:spPr>
          <a:xfrm>
            <a:off x="68705" y="97961"/>
            <a:ext cx="6027294" cy="627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0">
              <a:defRPr/>
            </a:pP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 Gothic" panose="020D0604000000000000" pitchFamily="34" charset="-127"/>
                <a:ea typeface="Nanum Gothic" panose="020D0604000000000000" pitchFamily="34" charset="-127"/>
                <a:cs typeface="+mn-ea"/>
                <a:sym typeface="Calibri" panose="020F0502020204030204" pitchFamily="34" charset="0"/>
              </a:rPr>
              <a:t>2.1 Data Collection</a:t>
            </a:r>
          </a:p>
        </p:txBody>
      </p:sp>
    </p:spTree>
    <p:extLst>
      <p:ext uri="{BB962C8B-B14F-4D97-AF65-F5344CB8AC3E}">
        <p14:creationId xmlns:p14="http://schemas.microsoft.com/office/powerpoint/2010/main" val="1918913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5">
            <a:extLst>
              <a:ext uri="{FF2B5EF4-FFF2-40B4-BE49-F238E27FC236}">
                <a16:creationId xmlns:a16="http://schemas.microsoft.com/office/drawing/2014/main" id="{9C2AE5D3-552F-504E-A0A2-F60FB9EECE08}"/>
              </a:ext>
            </a:extLst>
          </p:cNvPr>
          <p:cNvCxnSpPr>
            <a:cxnSpLocks/>
          </p:cNvCxnSpPr>
          <p:nvPr/>
        </p:nvCxnSpPr>
        <p:spPr>
          <a:xfrm flipV="1">
            <a:off x="0" y="693585"/>
            <a:ext cx="11674136" cy="2"/>
          </a:xfrm>
          <a:prstGeom prst="line">
            <a:avLst/>
          </a:prstGeom>
          <a:ln w="12700">
            <a:solidFill>
              <a:srgbClr val="70AE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6">
            <a:extLst>
              <a:ext uri="{FF2B5EF4-FFF2-40B4-BE49-F238E27FC236}">
                <a16:creationId xmlns:a16="http://schemas.microsoft.com/office/drawing/2014/main" id="{4AFFB448-6F69-0646-982F-E2EC1AC5D828}"/>
              </a:ext>
            </a:extLst>
          </p:cNvPr>
          <p:cNvSpPr/>
          <p:nvPr/>
        </p:nvSpPr>
        <p:spPr>
          <a:xfrm>
            <a:off x="0" y="693585"/>
            <a:ext cx="6373504" cy="126193"/>
          </a:xfrm>
          <a:prstGeom prst="rect">
            <a:avLst/>
          </a:prstGeom>
          <a:solidFill>
            <a:srgbClr val="70AE47"/>
          </a:solidFill>
          <a:ln w="9525">
            <a:solidFill>
              <a:srgbClr val="70AE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1BDBE009-8267-3841-A6A9-6A8D3D829B08}"/>
              </a:ext>
            </a:extLst>
          </p:cNvPr>
          <p:cNvSpPr txBox="1">
            <a:spLocks/>
          </p:cNvSpPr>
          <p:nvPr/>
        </p:nvSpPr>
        <p:spPr>
          <a:xfrm>
            <a:off x="68705" y="97961"/>
            <a:ext cx="6027294" cy="627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0">
              <a:defRPr/>
            </a:pP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 Gothic" panose="020D0604000000000000" pitchFamily="34" charset="-127"/>
                <a:ea typeface="Nanum Gothic" panose="020D0604000000000000" pitchFamily="34" charset="-127"/>
                <a:cs typeface="+mn-ea"/>
                <a:sym typeface="Calibri" panose="020F0502020204030204" pitchFamily="34" charset="0"/>
              </a:rPr>
              <a:t>2.1 Data Collection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FC86CB6-5C78-4E75-9670-9A18FCB661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022" y="3326782"/>
            <a:ext cx="3402216" cy="103767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D8C33E-22D2-4514-8663-44B0540ADB8E}"/>
              </a:ext>
            </a:extLst>
          </p:cNvPr>
          <p:cNvSpPr txBox="1"/>
          <p:nvPr/>
        </p:nvSpPr>
        <p:spPr>
          <a:xfrm>
            <a:off x="-160176" y="4798675"/>
            <a:ext cx="47586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Weather data</a:t>
            </a:r>
          </a:p>
          <a:p>
            <a:pPr algn="ctr"/>
            <a:r>
              <a:rPr lang="en-US" altLang="ko-KR" dirty="0"/>
              <a:t>(2015 – 2018)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6ECA062F-3FB5-4C6A-8577-019B2B30B9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3581309"/>
              </p:ext>
            </p:extLst>
          </p:nvPr>
        </p:nvGraphicFramePr>
        <p:xfrm>
          <a:off x="4461718" y="2456015"/>
          <a:ext cx="7439176" cy="370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19588">
                  <a:extLst>
                    <a:ext uri="{9D8B030D-6E8A-4147-A177-3AD203B41FA5}">
                      <a16:colId xmlns:a16="http://schemas.microsoft.com/office/drawing/2014/main" val="3251242121"/>
                    </a:ext>
                  </a:extLst>
                </a:gridCol>
                <a:gridCol w="3719588">
                  <a:extLst>
                    <a:ext uri="{9D8B030D-6E8A-4147-A177-3AD203B41FA5}">
                      <a16:colId xmlns:a16="http://schemas.microsoft.com/office/drawing/2014/main" val="3903301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dirty="0"/>
                        <a:t>Average Temperature</a:t>
                      </a:r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dirty="0"/>
                        <a:t>Lowest Temperature</a:t>
                      </a:r>
                      <a:endParaRPr lang="ko-KR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927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dirty="0"/>
                        <a:t>Highest Temperature</a:t>
                      </a:r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dirty="0"/>
                        <a:t>Precipitation</a:t>
                      </a:r>
                      <a:endParaRPr lang="ko-KR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7724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dirty="0"/>
                        <a:t>Wind Speed</a:t>
                      </a:r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dirty="0"/>
                        <a:t>Dew Point</a:t>
                      </a:r>
                      <a:endParaRPr lang="ko-KR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17476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dirty="0"/>
                        <a:t>Relative Humidity</a:t>
                      </a:r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dirty="0"/>
                        <a:t>Vapor Pressure</a:t>
                      </a:r>
                      <a:endParaRPr lang="ko-KR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621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dirty="0"/>
                        <a:t>Spot Atmospheric Pressure</a:t>
                      </a:r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dirty="0"/>
                        <a:t>Seal-level Pressure</a:t>
                      </a:r>
                      <a:endParaRPr lang="ko-KR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9197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dirty="0"/>
                        <a:t>Duration of Bright Sunshine</a:t>
                      </a:r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dirty="0"/>
                        <a:t>Solar Radiation Quantity</a:t>
                      </a:r>
                      <a:endParaRPr lang="ko-KR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4175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dirty="0"/>
                        <a:t>Maximum Depth of Snow Cover</a:t>
                      </a:r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dirty="0"/>
                        <a:t>Maximum Depth of New Snowfall</a:t>
                      </a:r>
                      <a:endParaRPr lang="ko-KR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6397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dirty="0"/>
                        <a:t>Amount of Cumulus</a:t>
                      </a:r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Average Temperature of Ground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948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dirty="0"/>
                        <a:t>Total Low Evaporation</a:t>
                      </a:r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dirty="0"/>
                        <a:t>Total Large Evaporation</a:t>
                      </a:r>
                      <a:endParaRPr lang="ko-KR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111262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Amount of Middle and Lower Cloud</a:t>
                      </a:r>
                      <a:endParaRPr lang="ko-KR" altLang="en-US" dirty="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379833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573C52C-6301-40AD-9608-395A5047CD60}"/>
              </a:ext>
            </a:extLst>
          </p:cNvPr>
          <p:cNvSpPr txBox="1"/>
          <p:nvPr/>
        </p:nvSpPr>
        <p:spPr>
          <a:xfrm>
            <a:off x="10002417" y="289249"/>
            <a:ext cx="1614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Weather.go.kr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4AA3E5C-CD3F-4FF6-9709-614251D140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9208" y="155437"/>
            <a:ext cx="1887888" cy="471972"/>
          </a:xfrm>
          <a:prstGeom prst="rect">
            <a:avLst/>
          </a:prstGeom>
        </p:spPr>
      </p:pic>
      <p:sp>
        <p:nvSpPr>
          <p:cNvPr id="11" name="제목 1">
            <a:extLst>
              <a:ext uri="{FF2B5EF4-FFF2-40B4-BE49-F238E27FC236}">
                <a16:creationId xmlns:a16="http://schemas.microsoft.com/office/drawing/2014/main" id="{2D9D2E30-5AE9-41AC-B024-AFB97A8F2B64}"/>
              </a:ext>
            </a:extLst>
          </p:cNvPr>
          <p:cNvSpPr txBox="1">
            <a:spLocks/>
          </p:cNvSpPr>
          <p:nvPr/>
        </p:nvSpPr>
        <p:spPr>
          <a:xfrm>
            <a:off x="7101965" y="1636093"/>
            <a:ext cx="2339215" cy="627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0">
              <a:defRPr/>
            </a:pP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 Gothic" panose="020D0604000000000000" pitchFamily="34" charset="-127"/>
                <a:ea typeface="Nanum Gothic" panose="020D0604000000000000" pitchFamily="34" charset="-127"/>
                <a:cs typeface="+mn-ea"/>
                <a:sym typeface="Calibri" panose="020F0502020204030204" pitchFamily="34" charset="0"/>
              </a:rPr>
              <a:t>Weather data </a:t>
            </a:r>
          </a:p>
        </p:txBody>
      </p:sp>
    </p:spTree>
    <p:extLst>
      <p:ext uri="{BB962C8B-B14F-4D97-AF65-F5344CB8AC3E}">
        <p14:creationId xmlns:p14="http://schemas.microsoft.com/office/powerpoint/2010/main" val="2053972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5">
            <a:extLst>
              <a:ext uri="{FF2B5EF4-FFF2-40B4-BE49-F238E27FC236}">
                <a16:creationId xmlns:a16="http://schemas.microsoft.com/office/drawing/2014/main" id="{9C2AE5D3-552F-504E-A0A2-F60FB9EECE08}"/>
              </a:ext>
            </a:extLst>
          </p:cNvPr>
          <p:cNvCxnSpPr>
            <a:cxnSpLocks/>
          </p:cNvCxnSpPr>
          <p:nvPr/>
        </p:nvCxnSpPr>
        <p:spPr>
          <a:xfrm flipV="1">
            <a:off x="0" y="693585"/>
            <a:ext cx="11674136" cy="2"/>
          </a:xfrm>
          <a:prstGeom prst="line">
            <a:avLst/>
          </a:prstGeom>
          <a:ln w="12700">
            <a:solidFill>
              <a:srgbClr val="70AE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6">
            <a:extLst>
              <a:ext uri="{FF2B5EF4-FFF2-40B4-BE49-F238E27FC236}">
                <a16:creationId xmlns:a16="http://schemas.microsoft.com/office/drawing/2014/main" id="{4AFFB448-6F69-0646-982F-E2EC1AC5D828}"/>
              </a:ext>
            </a:extLst>
          </p:cNvPr>
          <p:cNvSpPr/>
          <p:nvPr/>
        </p:nvSpPr>
        <p:spPr>
          <a:xfrm>
            <a:off x="0" y="693585"/>
            <a:ext cx="6373504" cy="126193"/>
          </a:xfrm>
          <a:prstGeom prst="rect">
            <a:avLst/>
          </a:prstGeom>
          <a:solidFill>
            <a:srgbClr val="70AE47"/>
          </a:solidFill>
          <a:ln w="9525">
            <a:solidFill>
              <a:srgbClr val="70AE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1BDBE009-8267-3841-A6A9-6A8D3D829B08}"/>
              </a:ext>
            </a:extLst>
          </p:cNvPr>
          <p:cNvSpPr txBox="1">
            <a:spLocks/>
          </p:cNvSpPr>
          <p:nvPr/>
        </p:nvSpPr>
        <p:spPr>
          <a:xfrm>
            <a:off x="68705" y="97961"/>
            <a:ext cx="6027294" cy="627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0">
              <a:defRPr/>
            </a:pP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 Gothic" panose="020D0604000000000000" pitchFamily="34" charset="-127"/>
                <a:ea typeface="Nanum Gothic" panose="020D0604000000000000" pitchFamily="34" charset="-127"/>
                <a:cs typeface="+mn-ea"/>
                <a:sym typeface="Calibri" panose="020F0502020204030204" pitchFamily="34" charset="0"/>
              </a:rPr>
              <a:t>2.2 Data Processing</a:t>
            </a:r>
          </a:p>
        </p:txBody>
      </p:sp>
    </p:spTree>
    <p:extLst>
      <p:ext uri="{BB962C8B-B14F-4D97-AF65-F5344CB8AC3E}">
        <p14:creationId xmlns:p14="http://schemas.microsoft.com/office/powerpoint/2010/main" val="3221074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5">
            <a:extLst>
              <a:ext uri="{FF2B5EF4-FFF2-40B4-BE49-F238E27FC236}">
                <a16:creationId xmlns:a16="http://schemas.microsoft.com/office/drawing/2014/main" id="{9C2AE5D3-552F-504E-A0A2-F60FB9EECE08}"/>
              </a:ext>
            </a:extLst>
          </p:cNvPr>
          <p:cNvCxnSpPr>
            <a:cxnSpLocks/>
          </p:cNvCxnSpPr>
          <p:nvPr/>
        </p:nvCxnSpPr>
        <p:spPr>
          <a:xfrm flipV="1">
            <a:off x="0" y="693585"/>
            <a:ext cx="11674136" cy="2"/>
          </a:xfrm>
          <a:prstGeom prst="line">
            <a:avLst/>
          </a:prstGeom>
          <a:ln w="12700">
            <a:solidFill>
              <a:srgbClr val="70AE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6">
            <a:extLst>
              <a:ext uri="{FF2B5EF4-FFF2-40B4-BE49-F238E27FC236}">
                <a16:creationId xmlns:a16="http://schemas.microsoft.com/office/drawing/2014/main" id="{4AFFB448-6F69-0646-982F-E2EC1AC5D828}"/>
              </a:ext>
            </a:extLst>
          </p:cNvPr>
          <p:cNvSpPr/>
          <p:nvPr/>
        </p:nvSpPr>
        <p:spPr>
          <a:xfrm>
            <a:off x="0" y="693585"/>
            <a:ext cx="6373504" cy="126193"/>
          </a:xfrm>
          <a:prstGeom prst="rect">
            <a:avLst/>
          </a:prstGeom>
          <a:solidFill>
            <a:srgbClr val="70AE47"/>
          </a:solidFill>
          <a:ln w="9525">
            <a:solidFill>
              <a:srgbClr val="70AE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1BDBE009-8267-3841-A6A9-6A8D3D829B08}"/>
              </a:ext>
            </a:extLst>
          </p:cNvPr>
          <p:cNvSpPr txBox="1">
            <a:spLocks/>
          </p:cNvSpPr>
          <p:nvPr/>
        </p:nvSpPr>
        <p:spPr>
          <a:xfrm>
            <a:off x="68705" y="97961"/>
            <a:ext cx="6027294" cy="627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0">
              <a:defRPr/>
            </a:pP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 Gothic" panose="020D0604000000000000" pitchFamily="34" charset="-127"/>
                <a:ea typeface="Nanum Gothic" panose="020D0604000000000000" pitchFamily="34" charset="-127"/>
                <a:cs typeface="+mn-ea"/>
                <a:sym typeface="Calibri" panose="020F0502020204030204" pitchFamily="34" charset="0"/>
              </a:rPr>
              <a:t>2.3 EDA</a:t>
            </a:r>
          </a:p>
        </p:txBody>
      </p:sp>
    </p:spTree>
    <p:extLst>
      <p:ext uri="{BB962C8B-B14F-4D97-AF65-F5344CB8AC3E}">
        <p14:creationId xmlns:p14="http://schemas.microsoft.com/office/powerpoint/2010/main" val="29673750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">
            <a:extLst>
              <a:ext uri="{FF2B5EF4-FFF2-40B4-BE49-F238E27FC236}">
                <a16:creationId xmlns:a16="http://schemas.microsoft.com/office/drawing/2014/main" id="{601E0D97-DAFA-344B-B290-30ED128B63CE}"/>
              </a:ext>
            </a:extLst>
          </p:cNvPr>
          <p:cNvSpPr txBox="1"/>
          <p:nvPr/>
        </p:nvSpPr>
        <p:spPr>
          <a:xfrm>
            <a:off x="3387969" y="2284936"/>
            <a:ext cx="5416062" cy="2018897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 latinLnBrk="0">
              <a:defRPr/>
            </a:pPr>
            <a:r>
              <a:rPr lang="en-US" altLang="ko-KR" sz="54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ea"/>
                <a:sym typeface="Calibri" panose="020F0502020204030204" pitchFamily="34" charset="0"/>
              </a:rPr>
              <a:t>3. Model</a:t>
            </a:r>
            <a:endParaRPr lang="en-US" altLang="zh-CN" sz="5400" b="1" dirty="0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+mn-ea"/>
              <a:sym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AAE8E6-9C0A-6B41-9582-A1BE8A207610}"/>
              </a:ext>
            </a:extLst>
          </p:cNvPr>
          <p:cNvSpPr txBox="1"/>
          <p:nvPr/>
        </p:nvSpPr>
        <p:spPr>
          <a:xfrm>
            <a:off x="5275385" y="199206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cxnSp>
        <p:nvCxnSpPr>
          <p:cNvPr id="8" name="Straight Connector 5">
            <a:extLst>
              <a:ext uri="{FF2B5EF4-FFF2-40B4-BE49-F238E27FC236}">
                <a16:creationId xmlns:a16="http://schemas.microsoft.com/office/drawing/2014/main" id="{CB3A8313-4A6F-4A4A-848E-CC5A847CE3B7}"/>
              </a:ext>
            </a:extLst>
          </p:cNvPr>
          <p:cNvCxnSpPr/>
          <p:nvPr/>
        </p:nvCxnSpPr>
        <p:spPr>
          <a:xfrm>
            <a:off x="0" y="3438066"/>
            <a:ext cx="9608024" cy="0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6">
            <a:extLst>
              <a:ext uri="{FF2B5EF4-FFF2-40B4-BE49-F238E27FC236}">
                <a16:creationId xmlns:a16="http://schemas.microsoft.com/office/drawing/2014/main" id="{C8E03941-2129-440E-B933-F39939171DFC}"/>
              </a:ext>
            </a:extLst>
          </p:cNvPr>
          <p:cNvSpPr/>
          <p:nvPr/>
        </p:nvSpPr>
        <p:spPr>
          <a:xfrm>
            <a:off x="0" y="3438065"/>
            <a:ext cx="6373504" cy="126193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70AE46"/>
              </a:solidFill>
            </a:endParaRPr>
          </a:p>
        </p:txBody>
      </p:sp>
      <p:pic>
        <p:nvPicPr>
          <p:cNvPr id="10" name="Picture 2" descr="김치, 아이콘, 일러스트, 벡터, 고추">
            <a:extLst>
              <a:ext uri="{FF2B5EF4-FFF2-40B4-BE49-F238E27FC236}">
                <a16:creationId xmlns:a16="http://schemas.microsoft.com/office/drawing/2014/main" id="{BC0C207A-C140-4E69-8BA2-261904DEB0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3054" b="94784" l="6723" r="60504">
                        <a14:foregroundMark x1="54308" y1="63692" x2="52615" y2="74154"/>
                        <a14:foregroundMark x1="58923" y1="64769" x2="59692" y2="727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7838" r="59634"/>
          <a:stretch/>
        </p:blipFill>
        <p:spPr bwMode="auto">
          <a:xfrm rot="999380">
            <a:off x="8870896" y="2027621"/>
            <a:ext cx="1384478" cy="1789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7156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5">
            <a:extLst>
              <a:ext uri="{FF2B5EF4-FFF2-40B4-BE49-F238E27FC236}">
                <a16:creationId xmlns:a16="http://schemas.microsoft.com/office/drawing/2014/main" id="{9C2AE5D3-552F-504E-A0A2-F60FB9EECE08}"/>
              </a:ext>
            </a:extLst>
          </p:cNvPr>
          <p:cNvCxnSpPr>
            <a:cxnSpLocks/>
          </p:cNvCxnSpPr>
          <p:nvPr/>
        </p:nvCxnSpPr>
        <p:spPr>
          <a:xfrm flipV="1">
            <a:off x="0" y="693585"/>
            <a:ext cx="11674136" cy="2"/>
          </a:xfrm>
          <a:prstGeom prst="line">
            <a:avLst/>
          </a:prstGeom>
          <a:ln w="12700">
            <a:solidFill>
              <a:srgbClr val="70AE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6">
            <a:extLst>
              <a:ext uri="{FF2B5EF4-FFF2-40B4-BE49-F238E27FC236}">
                <a16:creationId xmlns:a16="http://schemas.microsoft.com/office/drawing/2014/main" id="{4AFFB448-6F69-0646-982F-E2EC1AC5D828}"/>
              </a:ext>
            </a:extLst>
          </p:cNvPr>
          <p:cNvSpPr/>
          <p:nvPr/>
        </p:nvSpPr>
        <p:spPr>
          <a:xfrm>
            <a:off x="0" y="693585"/>
            <a:ext cx="6373504" cy="126193"/>
          </a:xfrm>
          <a:prstGeom prst="rect">
            <a:avLst/>
          </a:prstGeom>
          <a:solidFill>
            <a:srgbClr val="70AE47"/>
          </a:solidFill>
          <a:ln w="9525">
            <a:solidFill>
              <a:srgbClr val="70AE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1BDBE009-8267-3841-A6A9-6A8D3D829B08}"/>
              </a:ext>
            </a:extLst>
          </p:cNvPr>
          <p:cNvSpPr txBox="1">
            <a:spLocks/>
          </p:cNvSpPr>
          <p:nvPr/>
        </p:nvSpPr>
        <p:spPr>
          <a:xfrm>
            <a:off x="68705" y="97961"/>
            <a:ext cx="6027294" cy="627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0">
              <a:defRPr/>
            </a:pP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 Gothic" panose="020D0604000000000000" pitchFamily="34" charset="-127"/>
                <a:ea typeface="Nanum Gothic" panose="020D0604000000000000" pitchFamily="34" charset="-127"/>
                <a:cs typeface="+mn-ea"/>
                <a:sym typeface="Calibri" panose="020F0502020204030204" pitchFamily="34" charset="0"/>
              </a:rPr>
              <a:t>3.1 Model Training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342DEF24-E5C2-4234-B768-407CDFBF0913}"/>
              </a:ext>
            </a:extLst>
          </p:cNvPr>
          <p:cNvSpPr txBox="1">
            <a:spLocks/>
          </p:cNvSpPr>
          <p:nvPr/>
        </p:nvSpPr>
        <p:spPr>
          <a:xfrm>
            <a:off x="7407392" y="1065493"/>
            <a:ext cx="2913184" cy="627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0">
              <a:defRPr/>
            </a:pP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 Gothic" panose="020D0604000000000000" pitchFamily="34" charset="-127"/>
                <a:ea typeface="Nanum Gothic" panose="020D0604000000000000" pitchFamily="34" charset="-127"/>
                <a:cs typeface="+mn-ea"/>
                <a:sym typeface="Calibri" panose="020F0502020204030204" pitchFamily="34" charset="0"/>
              </a:rPr>
              <a:t>Multicollinearity Test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716F2CE-5296-46C0-97C8-353D2D36F7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1207" y="1693046"/>
            <a:ext cx="4125554" cy="463852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DCC015AB-7B54-48B8-8303-2C80F06A19B9}"/>
              </a:ext>
            </a:extLst>
          </p:cNvPr>
          <p:cNvSpPr/>
          <p:nvPr/>
        </p:nvSpPr>
        <p:spPr>
          <a:xfrm>
            <a:off x="6801207" y="2182761"/>
            <a:ext cx="4125554" cy="31119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F28863BE-0901-4934-8E7C-A1561F10A0D2}"/>
              </a:ext>
            </a:extLst>
          </p:cNvPr>
          <p:cNvSpPr/>
          <p:nvPr/>
        </p:nvSpPr>
        <p:spPr>
          <a:xfrm>
            <a:off x="5634486" y="3788921"/>
            <a:ext cx="923026" cy="457200"/>
          </a:xfrm>
          <a:prstGeom prst="rightArrow">
            <a:avLst/>
          </a:prstGeom>
          <a:solidFill>
            <a:srgbClr val="FF000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F8D80AF0-B68C-43FB-A4D2-4EF32956961F}"/>
              </a:ext>
            </a:extLst>
          </p:cNvPr>
          <p:cNvSpPr txBox="1">
            <a:spLocks/>
          </p:cNvSpPr>
          <p:nvPr/>
        </p:nvSpPr>
        <p:spPr>
          <a:xfrm>
            <a:off x="346210" y="3069079"/>
            <a:ext cx="6027294" cy="14296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0">
              <a:defRPr/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Nanum Gothic" panose="020D0604000000000000" pitchFamily="34" charset="-127"/>
                <a:ea typeface="Nanum Gothic" panose="020D0604000000000000" pitchFamily="34" charset="-127"/>
                <a:cs typeface="+mn-ea"/>
                <a:sym typeface="Calibri" panose="020F0502020204030204" pitchFamily="34" charset="0"/>
              </a:rPr>
              <a:t>From </a:t>
            </a: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 Gothic" panose="020D0604000000000000" pitchFamily="34" charset="-127"/>
                <a:ea typeface="Nanum Gothic" panose="020D0604000000000000" pitchFamily="34" charset="-127"/>
                <a:cs typeface="+mn-ea"/>
                <a:sym typeface="Calibri" panose="020F0502020204030204" pitchFamily="34" charset="0"/>
              </a:rPr>
              <a:t>Sea-level pressure 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Nanum Gothic" panose="020D0604000000000000" pitchFamily="34" charset="-127"/>
                <a:ea typeface="Nanum Gothic" panose="020D0604000000000000" pitchFamily="34" charset="-127"/>
                <a:cs typeface="+mn-ea"/>
                <a:sym typeface="Calibri" panose="020F0502020204030204" pitchFamily="34" charset="0"/>
              </a:rPr>
              <a:t>to </a:t>
            </a: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 Gothic" panose="020D0604000000000000" pitchFamily="34" charset="-127"/>
                <a:ea typeface="Nanum Gothic" panose="020D0604000000000000" pitchFamily="34" charset="-127"/>
                <a:cs typeface="+mn-ea"/>
                <a:sym typeface="Calibri" panose="020F0502020204030204" pitchFamily="34" charset="0"/>
              </a:rPr>
              <a:t>Radish Normal year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Nanum Gothic" panose="020D0604000000000000" pitchFamily="34" charset="-127"/>
                <a:ea typeface="Nanum Gothic" panose="020D0604000000000000" pitchFamily="34" charset="-127"/>
                <a:cs typeface="+mn-ea"/>
                <a:sym typeface="Calibri" panose="020F0502020204030204" pitchFamily="34" charset="0"/>
              </a:rPr>
              <a:t>,</a:t>
            </a:r>
          </a:p>
          <a:p>
            <a:pPr latinLnBrk="0">
              <a:defRPr/>
            </a:pP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latin typeface="Nanum Gothic" panose="020D0604000000000000" pitchFamily="34" charset="-127"/>
              <a:ea typeface="Nanum Gothic" panose="020D0604000000000000" pitchFamily="34" charset="-127"/>
              <a:cs typeface="+mn-ea"/>
              <a:sym typeface="Calibri" panose="020F0502020204030204" pitchFamily="34" charset="0"/>
            </a:endParaRPr>
          </a:p>
          <a:p>
            <a:pPr latinLnBrk="0">
              <a:defRPr/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Nanum Gothic" panose="020D0604000000000000" pitchFamily="34" charset="-127"/>
                <a:ea typeface="Nanum Gothic" panose="020D0604000000000000" pitchFamily="34" charset="-127"/>
                <a:cs typeface="+mn-ea"/>
                <a:sym typeface="Calibri" panose="020F0502020204030204" pitchFamily="34" charset="0"/>
              </a:rPr>
              <a:t>VIF Factor is more than 10</a:t>
            </a:r>
          </a:p>
        </p:txBody>
      </p:sp>
    </p:spTree>
    <p:extLst>
      <p:ext uri="{BB962C8B-B14F-4D97-AF65-F5344CB8AC3E}">
        <p14:creationId xmlns:p14="http://schemas.microsoft.com/office/powerpoint/2010/main" val="26562613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5">
            <a:extLst>
              <a:ext uri="{FF2B5EF4-FFF2-40B4-BE49-F238E27FC236}">
                <a16:creationId xmlns:a16="http://schemas.microsoft.com/office/drawing/2014/main" id="{9C2AE5D3-552F-504E-A0A2-F60FB9EECE08}"/>
              </a:ext>
            </a:extLst>
          </p:cNvPr>
          <p:cNvCxnSpPr>
            <a:cxnSpLocks/>
          </p:cNvCxnSpPr>
          <p:nvPr/>
        </p:nvCxnSpPr>
        <p:spPr>
          <a:xfrm flipV="1">
            <a:off x="0" y="693585"/>
            <a:ext cx="11674136" cy="2"/>
          </a:xfrm>
          <a:prstGeom prst="line">
            <a:avLst/>
          </a:prstGeom>
          <a:ln w="12700">
            <a:solidFill>
              <a:srgbClr val="70AE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6">
            <a:extLst>
              <a:ext uri="{FF2B5EF4-FFF2-40B4-BE49-F238E27FC236}">
                <a16:creationId xmlns:a16="http://schemas.microsoft.com/office/drawing/2014/main" id="{4AFFB448-6F69-0646-982F-E2EC1AC5D828}"/>
              </a:ext>
            </a:extLst>
          </p:cNvPr>
          <p:cNvSpPr/>
          <p:nvPr/>
        </p:nvSpPr>
        <p:spPr>
          <a:xfrm>
            <a:off x="0" y="693585"/>
            <a:ext cx="6373504" cy="126193"/>
          </a:xfrm>
          <a:prstGeom prst="rect">
            <a:avLst/>
          </a:prstGeom>
          <a:solidFill>
            <a:srgbClr val="70AE47"/>
          </a:solidFill>
          <a:ln w="9525">
            <a:solidFill>
              <a:srgbClr val="70AE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1BDBE009-8267-3841-A6A9-6A8D3D829B08}"/>
              </a:ext>
            </a:extLst>
          </p:cNvPr>
          <p:cNvSpPr txBox="1">
            <a:spLocks/>
          </p:cNvSpPr>
          <p:nvPr/>
        </p:nvSpPr>
        <p:spPr>
          <a:xfrm>
            <a:off x="68705" y="97961"/>
            <a:ext cx="6027294" cy="627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0">
              <a:defRPr/>
            </a:pP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 Gothic" panose="020D0604000000000000" pitchFamily="34" charset="-127"/>
                <a:ea typeface="Nanum Gothic" panose="020D0604000000000000" pitchFamily="34" charset="-127"/>
                <a:cs typeface="+mn-ea"/>
                <a:sym typeface="Calibri" panose="020F0502020204030204" pitchFamily="34" charset="0"/>
              </a:rPr>
              <a:t>3.1 Model Training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A87CF27-020A-47CA-99BA-E1886E6C39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864" y="1476937"/>
            <a:ext cx="3827677" cy="421973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0EF4ACEB-ECD4-4202-9BF2-413017B6F6FC}"/>
              </a:ext>
            </a:extLst>
          </p:cNvPr>
          <p:cNvSpPr/>
          <p:nvPr/>
        </p:nvSpPr>
        <p:spPr>
          <a:xfrm>
            <a:off x="188864" y="1917045"/>
            <a:ext cx="3827677" cy="28337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15A8E47D-6CF1-40DF-BDAF-800D65EEC3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9918" y="1476937"/>
            <a:ext cx="3827677" cy="4219730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0C8CD537-79C9-4065-99CD-D90BCFB035A5}"/>
              </a:ext>
            </a:extLst>
          </p:cNvPr>
          <p:cNvSpPr/>
          <p:nvPr/>
        </p:nvSpPr>
        <p:spPr>
          <a:xfrm>
            <a:off x="5639918" y="1917044"/>
            <a:ext cx="3827677" cy="28337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제목 1">
            <a:extLst>
              <a:ext uri="{FF2B5EF4-FFF2-40B4-BE49-F238E27FC236}">
                <a16:creationId xmlns:a16="http://schemas.microsoft.com/office/drawing/2014/main" id="{53C3A3FB-159B-44DD-AF06-44587FDF14D1}"/>
              </a:ext>
            </a:extLst>
          </p:cNvPr>
          <p:cNvSpPr txBox="1">
            <a:spLocks/>
          </p:cNvSpPr>
          <p:nvPr/>
        </p:nvSpPr>
        <p:spPr>
          <a:xfrm>
            <a:off x="88698" y="5696667"/>
            <a:ext cx="4016538" cy="7741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latinLnBrk="0">
              <a:defRPr/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Nanum Gothic" panose="020D0604000000000000" pitchFamily="34" charset="-127"/>
                <a:ea typeface="Nanum Gothic" panose="020D0604000000000000" pitchFamily="34" charset="-127"/>
                <a:cs typeface="+mn-ea"/>
                <a:sym typeface="Calibri" panose="020F0502020204030204" pitchFamily="34" charset="0"/>
              </a:rPr>
              <a:t>Remove </a:t>
            </a: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 Gothic" panose="020D0604000000000000" pitchFamily="34" charset="-127"/>
                <a:ea typeface="Nanum Gothic" panose="020D0604000000000000" pitchFamily="34" charset="-127"/>
                <a:cs typeface="+mn-ea"/>
                <a:sym typeface="Calibri" panose="020F0502020204030204" pitchFamily="34" charset="0"/>
              </a:rPr>
              <a:t>Highest Temperature </a:t>
            </a:r>
          </a:p>
          <a:p>
            <a:pPr algn="ctr" latinLnBrk="0">
              <a:defRPr/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Nanum Gothic" panose="020D0604000000000000" pitchFamily="34" charset="-127"/>
                <a:ea typeface="Nanum Gothic" panose="020D0604000000000000" pitchFamily="34" charset="-127"/>
                <a:cs typeface="+mn-ea"/>
                <a:sym typeface="Calibri" panose="020F0502020204030204" pitchFamily="34" charset="0"/>
              </a:rPr>
              <a:t>from variable sets</a:t>
            </a:r>
          </a:p>
        </p:txBody>
      </p:sp>
      <p:sp>
        <p:nvSpPr>
          <p:cNvPr id="20" name="제목 1">
            <a:extLst>
              <a:ext uri="{FF2B5EF4-FFF2-40B4-BE49-F238E27FC236}">
                <a16:creationId xmlns:a16="http://schemas.microsoft.com/office/drawing/2014/main" id="{04346F2B-0DE1-4717-84CC-0C422EA418E4}"/>
              </a:ext>
            </a:extLst>
          </p:cNvPr>
          <p:cNvSpPr txBox="1">
            <a:spLocks/>
          </p:cNvSpPr>
          <p:nvPr/>
        </p:nvSpPr>
        <p:spPr>
          <a:xfrm>
            <a:off x="4380476" y="834581"/>
            <a:ext cx="2913184" cy="627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0">
              <a:defRPr/>
            </a:pP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 Gothic" panose="020D0604000000000000" pitchFamily="34" charset="-127"/>
                <a:ea typeface="Nanum Gothic" panose="020D0604000000000000" pitchFamily="34" charset="-127"/>
                <a:cs typeface="+mn-ea"/>
                <a:sym typeface="Calibri" panose="020F0502020204030204" pitchFamily="34" charset="0"/>
              </a:rPr>
              <a:t>Multicollinearity Test</a:t>
            </a:r>
          </a:p>
        </p:txBody>
      </p:sp>
      <p:sp>
        <p:nvSpPr>
          <p:cNvPr id="24" name="제목 1">
            <a:extLst>
              <a:ext uri="{FF2B5EF4-FFF2-40B4-BE49-F238E27FC236}">
                <a16:creationId xmlns:a16="http://schemas.microsoft.com/office/drawing/2014/main" id="{15FA4D6C-C0D4-4A8F-9B42-CFC46F42AB82}"/>
              </a:ext>
            </a:extLst>
          </p:cNvPr>
          <p:cNvSpPr txBox="1">
            <a:spLocks/>
          </p:cNvSpPr>
          <p:nvPr/>
        </p:nvSpPr>
        <p:spPr>
          <a:xfrm>
            <a:off x="5415854" y="5696667"/>
            <a:ext cx="4016538" cy="7741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latinLnBrk="0">
              <a:defRPr/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Nanum Gothic" panose="020D0604000000000000" pitchFamily="34" charset="-127"/>
                <a:ea typeface="Nanum Gothic" panose="020D0604000000000000" pitchFamily="34" charset="-127"/>
                <a:cs typeface="+mn-ea"/>
                <a:sym typeface="Calibri" panose="020F0502020204030204" pitchFamily="34" charset="0"/>
              </a:rPr>
              <a:t>Remove </a:t>
            </a: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 Gothic" panose="020D0604000000000000" pitchFamily="34" charset="-127"/>
                <a:ea typeface="Nanum Gothic" panose="020D0604000000000000" pitchFamily="34" charset="-127"/>
                <a:cs typeface="+mn-ea"/>
                <a:sym typeface="Calibri" panose="020F0502020204030204" pitchFamily="34" charset="0"/>
              </a:rPr>
              <a:t>Highest Relative Humidity </a:t>
            </a:r>
          </a:p>
          <a:p>
            <a:pPr algn="ctr" latinLnBrk="0">
              <a:defRPr/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Nanum Gothic" panose="020D0604000000000000" pitchFamily="34" charset="-127"/>
                <a:ea typeface="Nanum Gothic" panose="020D0604000000000000" pitchFamily="34" charset="-127"/>
                <a:cs typeface="+mn-ea"/>
                <a:sym typeface="Calibri" panose="020F0502020204030204" pitchFamily="34" charset="0"/>
              </a:rPr>
              <a:t>from variable sets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65AB9588-439F-41D2-95E0-9685F28735D0}"/>
              </a:ext>
            </a:extLst>
          </p:cNvPr>
          <p:cNvSpPr/>
          <p:nvPr/>
        </p:nvSpPr>
        <p:spPr>
          <a:xfrm>
            <a:off x="4174001" y="3476162"/>
            <a:ext cx="206477" cy="206477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E371B72C-F4C8-449E-8E54-A2F0E59E121D}"/>
              </a:ext>
            </a:extLst>
          </p:cNvPr>
          <p:cNvSpPr/>
          <p:nvPr/>
        </p:nvSpPr>
        <p:spPr>
          <a:xfrm>
            <a:off x="4707780" y="3476162"/>
            <a:ext cx="206477" cy="206477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4F69D50B-ABAC-4B75-B9AC-43CFE16373D9}"/>
              </a:ext>
            </a:extLst>
          </p:cNvPr>
          <p:cNvSpPr/>
          <p:nvPr/>
        </p:nvSpPr>
        <p:spPr>
          <a:xfrm>
            <a:off x="5241559" y="3476162"/>
            <a:ext cx="206477" cy="206477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B21CAFE3-4106-4EBC-BC1D-DF33DE48F191}"/>
              </a:ext>
            </a:extLst>
          </p:cNvPr>
          <p:cNvSpPr/>
          <p:nvPr/>
        </p:nvSpPr>
        <p:spPr>
          <a:xfrm>
            <a:off x="9659477" y="3424543"/>
            <a:ext cx="471099" cy="435017"/>
          </a:xfrm>
          <a:prstGeom prst="rightArrow">
            <a:avLst/>
          </a:prstGeom>
          <a:solidFill>
            <a:srgbClr val="FF000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제목 1">
            <a:extLst>
              <a:ext uri="{FF2B5EF4-FFF2-40B4-BE49-F238E27FC236}">
                <a16:creationId xmlns:a16="http://schemas.microsoft.com/office/drawing/2014/main" id="{12BB00C2-EC74-4556-998B-127265A2C900}"/>
              </a:ext>
            </a:extLst>
          </p:cNvPr>
          <p:cNvSpPr txBox="1">
            <a:spLocks/>
          </p:cNvSpPr>
          <p:nvPr/>
        </p:nvSpPr>
        <p:spPr>
          <a:xfrm>
            <a:off x="9691659" y="3273025"/>
            <a:ext cx="2913184" cy="627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latinLnBrk="0">
              <a:defRPr/>
            </a:pP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 Gothic" panose="020D0604000000000000" pitchFamily="34" charset="-127"/>
                <a:ea typeface="Nanum Gothic" panose="020D0604000000000000" pitchFamily="34" charset="-127"/>
                <a:cs typeface="+mn-ea"/>
                <a:sym typeface="Calibri" panose="020F0502020204030204" pitchFamily="34" charset="0"/>
              </a:rPr>
              <a:t>No </a:t>
            </a:r>
          </a:p>
          <a:p>
            <a:pPr algn="ctr" latinLnBrk="0">
              <a:defRPr/>
            </a:pP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 Gothic" panose="020D0604000000000000" pitchFamily="34" charset="-127"/>
                <a:ea typeface="Nanum Gothic" panose="020D0604000000000000" pitchFamily="34" charset="-127"/>
                <a:cs typeface="+mn-ea"/>
                <a:sym typeface="Calibri" panose="020F0502020204030204" pitchFamily="34" charset="0"/>
              </a:rPr>
              <a:t>Big difference</a:t>
            </a:r>
          </a:p>
        </p:txBody>
      </p:sp>
    </p:spTree>
    <p:extLst>
      <p:ext uri="{BB962C8B-B14F-4D97-AF65-F5344CB8AC3E}">
        <p14:creationId xmlns:p14="http://schemas.microsoft.com/office/powerpoint/2010/main" val="26974210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5">
            <a:extLst>
              <a:ext uri="{FF2B5EF4-FFF2-40B4-BE49-F238E27FC236}">
                <a16:creationId xmlns:a16="http://schemas.microsoft.com/office/drawing/2014/main" id="{9C2AE5D3-552F-504E-A0A2-F60FB9EECE08}"/>
              </a:ext>
            </a:extLst>
          </p:cNvPr>
          <p:cNvCxnSpPr>
            <a:cxnSpLocks/>
          </p:cNvCxnSpPr>
          <p:nvPr/>
        </p:nvCxnSpPr>
        <p:spPr>
          <a:xfrm flipV="1">
            <a:off x="0" y="693585"/>
            <a:ext cx="11674136" cy="2"/>
          </a:xfrm>
          <a:prstGeom prst="line">
            <a:avLst/>
          </a:prstGeom>
          <a:ln w="12700">
            <a:solidFill>
              <a:srgbClr val="70AE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6">
            <a:extLst>
              <a:ext uri="{FF2B5EF4-FFF2-40B4-BE49-F238E27FC236}">
                <a16:creationId xmlns:a16="http://schemas.microsoft.com/office/drawing/2014/main" id="{4AFFB448-6F69-0646-982F-E2EC1AC5D828}"/>
              </a:ext>
            </a:extLst>
          </p:cNvPr>
          <p:cNvSpPr/>
          <p:nvPr/>
        </p:nvSpPr>
        <p:spPr>
          <a:xfrm>
            <a:off x="0" y="693585"/>
            <a:ext cx="6373504" cy="126193"/>
          </a:xfrm>
          <a:prstGeom prst="rect">
            <a:avLst/>
          </a:prstGeom>
          <a:solidFill>
            <a:srgbClr val="70AE47"/>
          </a:solidFill>
          <a:ln w="9525">
            <a:solidFill>
              <a:srgbClr val="70AE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1BDBE009-8267-3841-A6A9-6A8D3D829B08}"/>
              </a:ext>
            </a:extLst>
          </p:cNvPr>
          <p:cNvSpPr txBox="1">
            <a:spLocks/>
          </p:cNvSpPr>
          <p:nvPr/>
        </p:nvSpPr>
        <p:spPr>
          <a:xfrm>
            <a:off x="68705" y="97961"/>
            <a:ext cx="6027294" cy="627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0">
              <a:defRPr/>
            </a:pP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 Gothic" panose="020D0604000000000000" pitchFamily="34" charset="-127"/>
                <a:ea typeface="Nanum Gothic" panose="020D0604000000000000" pitchFamily="34" charset="-127"/>
                <a:cs typeface="+mn-ea"/>
                <a:sym typeface="Calibri" panose="020F0502020204030204" pitchFamily="34" charset="0"/>
              </a:rPr>
              <a:t>3.1 Model Training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1188B5C-ED92-4229-9911-EB7A589D3DD7}"/>
              </a:ext>
            </a:extLst>
          </p:cNvPr>
          <p:cNvSpPr txBox="1"/>
          <p:nvPr/>
        </p:nvSpPr>
        <p:spPr>
          <a:xfrm>
            <a:off x="502827" y="1046070"/>
            <a:ext cx="32325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Because from the EDA…</a:t>
            </a:r>
            <a:endParaRPr lang="ko-KR" altLang="en-US" b="1" dirty="0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92D7FE24-A98B-4408-AFAE-7236380F0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8867" y="1585780"/>
            <a:ext cx="2172151" cy="134514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09B1B2F5-1264-46AF-81F8-B83EF3B451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8867" y="3056997"/>
            <a:ext cx="2197694" cy="156181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2479C843-6CBD-42E1-B84F-EAEDCA2F0E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3298" y="1585780"/>
            <a:ext cx="2199752" cy="135822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BC6090CB-F646-4DA0-B769-76A85499D8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65330" y="1585780"/>
            <a:ext cx="2131806" cy="134513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80C1BAE1-506D-4AE9-A330-2AC0CAB764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3298" y="4753649"/>
            <a:ext cx="2199752" cy="156181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AE6A7774-34B6-43A8-9A84-560DDEA0188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8866" y="4753649"/>
            <a:ext cx="2220003" cy="156181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44D2378C-D75E-41D9-8A97-77BB880FC3D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68298" y="3056997"/>
            <a:ext cx="2159254" cy="156181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1809DA4A-A53C-41AD-B9F8-173EF55AD7A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06581" y="3103447"/>
            <a:ext cx="2199752" cy="151536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2F8EFF43-0CFF-4D6C-BC6B-AFF52B78824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68298" y="4735162"/>
            <a:ext cx="2159255" cy="158029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7F5506E-17F1-4058-81B4-61D5E68D8EA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4447" y="4030058"/>
            <a:ext cx="3232597" cy="221891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C4389C19-A473-46D0-98E9-514307A9A68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4447" y="1702401"/>
            <a:ext cx="3232597" cy="204065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E15380B3-16FB-4A54-937A-81BE52E85E4F}"/>
              </a:ext>
            </a:extLst>
          </p:cNvPr>
          <p:cNvGrpSpPr/>
          <p:nvPr/>
        </p:nvGrpSpPr>
        <p:grpSpPr>
          <a:xfrm>
            <a:off x="3863235" y="3743059"/>
            <a:ext cx="849100" cy="435017"/>
            <a:chOff x="3863235" y="3743059"/>
            <a:chExt cx="849100" cy="435017"/>
          </a:xfrm>
        </p:grpSpPr>
        <p:sp>
          <p:nvSpPr>
            <p:cNvPr id="39" name="화살표: 오른쪽 38">
              <a:extLst>
                <a:ext uri="{FF2B5EF4-FFF2-40B4-BE49-F238E27FC236}">
                  <a16:creationId xmlns:a16="http://schemas.microsoft.com/office/drawing/2014/main" id="{6E1EE808-ED63-41A7-8ECF-EC1A1EDB688B}"/>
                </a:ext>
              </a:extLst>
            </p:cNvPr>
            <p:cNvSpPr/>
            <p:nvPr/>
          </p:nvSpPr>
          <p:spPr>
            <a:xfrm>
              <a:off x="4241236" y="3743059"/>
              <a:ext cx="471099" cy="435017"/>
            </a:xfrm>
            <a:prstGeom prst="rightArrow">
              <a:avLst/>
            </a:prstGeom>
            <a:solidFill>
              <a:srgbClr val="92D050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화살표: 오른쪽 39">
              <a:extLst>
                <a:ext uri="{FF2B5EF4-FFF2-40B4-BE49-F238E27FC236}">
                  <a16:creationId xmlns:a16="http://schemas.microsoft.com/office/drawing/2014/main" id="{394BDAC9-FC1B-4077-98C2-DDEF77C3FF98}"/>
                </a:ext>
              </a:extLst>
            </p:cNvPr>
            <p:cNvSpPr/>
            <p:nvPr/>
          </p:nvSpPr>
          <p:spPr>
            <a:xfrm rot="10800000">
              <a:off x="3863235" y="3743059"/>
              <a:ext cx="471099" cy="435017"/>
            </a:xfrm>
            <a:prstGeom prst="rightArrow">
              <a:avLst/>
            </a:prstGeom>
            <a:solidFill>
              <a:srgbClr val="92D050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0907F2C2-6DD0-438F-A43E-760EBF1F67B9}"/>
              </a:ext>
            </a:extLst>
          </p:cNvPr>
          <p:cNvSpPr txBox="1"/>
          <p:nvPr/>
        </p:nvSpPr>
        <p:spPr>
          <a:xfrm>
            <a:off x="3816749" y="3056997"/>
            <a:ext cx="11311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Similar </a:t>
            </a:r>
          </a:p>
          <a:p>
            <a:r>
              <a:rPr lang="en-US" altLang="ko-KR" dirty="0"/>
              <a:t>Shape!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233689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5">
            <a:extLst>
              <a:ext uri="{FF2B5EF4-FFF2-40B4-BE49-F238E27FC236}">
                <a16:creationId xmlns:a16="http://schemas.microsoft.com/office/drawing/2014/main" id="{9C2AE5D3-552F-504E-A0A2-F60FB9EECE08}"/>
              </a:ext>
            </a:extLst>
          </p:cNvPr>
          <p:cNvCxnSpPr>
            <a:cxnSpLocks/>
          </p:cNvCxnSpPr>
          <p:nvPr/>
        </p:nvCxnSpPr>
        <p:spPr>
          <a:xfrm flipV="1">
            <a:off x="0" y="693585"/>
            <a:ext cx="11674136" cy="2"/>
          </a:xfrm>
          <a:prstGeom prst="line">
            <a:avLst/>
          </a:prstGeom>
          <a:ln w="12700">
            <a:solidFill>
              <a:srgbClr val="70AE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6">
            <a:extLst>
              <a:ext uri="{FF2B5EF4-FFF2-40B4-BE49-F238E27FC236}">
                <a16:creationId xmlns:a16="http://schemas.microsoft.com/office/drawing/2014/main" id="{4AFFB448-6F69-0646-982F-E2EC1AC5D828}"/>
              </a:ext>
            </a:extLst>
          </p:cNvPr>
          <p:cNvSpPr/>
          <p:nvPr/>
        </p:nvSpPr>
        <p:spPr>
          <a:xfrm>
            <a:off x="0" y="693585"/>
            <a:ext cx="6373504" cy="126193"/>
          </a:xfrm>
          <a:prstGeom prst="rect">
            <a:avLst/>
          </a:prstGeom>
          <a:solidFill>
            <a:srgbClr val="70AE47"/>
          </a:solidFill>
          <a:ln w="9525">
            <a:solidFill>
              <a:srgbClr val="70AE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1BDBE009-8267-3841-A6A9-6A8D3D829B08}"/>
              </a:ext>
            </a:extLst>
          </p:cNvPr>
          <p:cNvSpPr txBox="1">
            <a:spLocks/>
          </p:cNvSpPr>
          <p:nvPr/>
        </p:nvSpPr>
        <p:spPr>
          <a:xfrm>
            <a:off x="68705" y="97961"/>
            <a:ext cx="6027294" cy="627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0">
              <a:defRPr/>
            </a:pP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 Gothic" panose="020D0604000000000000" pitchFamily="34" charset="-127"/>
                <a:ea typeface="Nanum Gothic" panose="020D0604000000000000" pitchFamily="34" charset="-127"/>
                <a:cs typeface="+mn-ea"/>
                <a:sym typeface="Calibri" panose="020F0502020204030204" pitchFamily="34" charset="0"/>
              </a:rPr>
              <a:t>3.1 Model Training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0F6541E8-02B4-48BF-931C-D88F8D7EB82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6864"/>
          <a:stretch/>
        </p:blipFill>
        <p:spPr>
          <a:xfrm>
            <a:off x="354183" y="5442154"/>
            <a:ext cx="4522617" cy="1199821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1BE0BB82-9FA7-4071-8EBA-E9D39D9E605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3068" t="8130" r="3068" b="22971"/>
          <a:stretch/>
        </p:blipFill>
        <p:spPr>
          <a:xfrm>
            <a:off x="237295" y="1002243"/>
            <a:ext cx="4522617" cy="3573082"/>
          </a:xfrm>
          <a:prstGeom prst="rect">
            <a:avLst/>
          </a:prstGeom>
        </p:spPr>
      </p:pic>
      <p:sp>
        <p:nvSpPr>
          <p:cNvPr id="27" name="화살표: 왼쪽 26">
            <a:extLst>
              <a:ext uri="{FF2B5EF4-FFF2-40B4-BE49-F238E27FC236}">
                <a16:creationId xmlns:a16="http://schemas.microsoft.com/office/drawing/2014/main" id="{6B5D39F3-C979-4110-B64D-42B40EC2D741}"/>
              </a:ext>
            </a:extLst>
          </p:cNvPr>
          <p:cNvSpPr/>
          <p:nvPr/>
        </p:nvSpPr>
        <p:spPr>
          <a:xfrm rot="5400000">
            <a:off x="665220" y="4807388"/>
            <a:ext cx="508413" cy="402703"/>
          </a:xfrm>
          <a:prstGeom prst="leftArrow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C510128-51A7-4D55-89A3-ABB5B39A6AF3}"/>
              </a:ext>
            </a:extLst>
          </p:cNvPr>
          <p:cNvSpPr txBox="1"/>
          <p:nvPr/>
        </p:nvSpPr>
        <p:spPr>
          <a:xfrm>
            <a:off x="1120779" y="4861040"/>
            <a:ext cx="6105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Remove all variables with more than 10 multicollinearity</a:t>
            </a:r>
            <a:endParaRPr lang="ko-KR" altLang="en-US" dirty="0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73F6969E-3B6F-4DD1-98F5-8F5DCC8E6126}"/>
              </a:ext>
            </a:extLst>
          </p:cNvPr>
          <p:cNvSpPr/>
          <p:nvPr/>
        </p:nvSpPr>
        <p:spPr>
          <a:xfrm>
            <a:off x="925443" y="5442154"/>
            <a:ext cx="3951357" cy="11998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9EEA7DCA-D311-4970-A1B5-6C7AF3687E2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457" t="76864"/>
          <a:stretch/>
        </p:blipFill>
        <p:spPr>
          <a:xfrm>
            <a:off x="7315202" y="5380464"/>
            <a:ext cx="4094915" cy="1199821"/>
          </a:xfrm>
          <a:prstGeom prst="rect">
            <a:avLst/>
          </a:prstGeom>
        </p:spPr>
      </p:pic>
      <p:sp>
        <p:nvSpPr>
          <p:cNvPr id="44" name="직사각형 43">
            <a:extLst>
              <a:ext uri="{FF2B5EF4-FFF2-40B4-BE49-F238E27FC236}">
                <a16:creationId xmlns:a16="http://schemas.microsoft.com/office/drawing/2014/main" id="{2BC397B2-C85E-4A66-805C-C3760E03ABDA}"/>
              </a:ext>
            </a:extLst>
          </p:cNvPr>
          <p:cNvSpPr/>
          <p:nvPr/>
        </p:nvSpPr>
        <p:spPr>
          <a:xfrm>
            <a:off x="7458760" y="5380464"/>
            <a:ext cx="3951357" cy="12389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화살표: 왼쪽 44">
            <a:extLst>
              <a:ext uri="{FF2B5EF4-FFF2-40B4-BE49-F238E27FC236}">
                <a16:creationId xmlns:a16="http://schemas.microsoft.com/office/drawing/2014/main" id="{761109E6-869D-4F87-AA8C-09F88C69C695}"/>
              </a:ext>
            </a:extLst>
          </p:cNvPr>
          <p:cNvSpPr/>
          <p:nvPr/>
        </p:nvSpPr>
        <p:spPr>
          <a:xfrm rot="10800000">
            <a:off x="5751064" y="5840712"/>
            <a:ext cx="867330" cy="402703"/>
          </a:xfrm>
          <a:prstGeom prst="leftArrow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십자형 1">
            <a:extLst>
              <a:ext uri="{FF2B5EF4-FFF2-40B4-BE49-F238E27FC236}">
                <a16:creationId xmlns:a16="http://schemas.microsoft.com/office/drawing/2014/main" id="{37E08518-28D0-4354-8745-C1D51B54AC17}"/>
              </a:ext>
            </a:extLst>
          </p:cNvPr>
          <p:cNvSpPr/>
          <p:nvPr/>
        </p:nvSpPr>
        <p:spPr>
          <a:xfrm>
            <a:off x="8128718" y="4643438"/>
            <a:ext cx="589936" cy="589936"/>
          </a:xfrm>
          <a:prstGeom prst="plus">
            <a:avLst>
              <a:gd name="adj" fmla="val 30417"/>
            </a:avLst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42A1D183-36C9-4914-B62C-5D069E4546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389" t="8130" r="3068" b="22971"/>
          <a:stretch/>
        </p:blipFill>
        <p:spPr>
          <a:xfrm>
            <a:off x="7234084" y="923266"/>
            <a:ext cx="4094915" cy="3573082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68B001D9-4E42-4B69-BB81-15EF5BD8C791}"/>
              </a:ext>
            </a:extLst>
          </p:cNvPr>
          <p:cNvSpPr txBox="1"/>
          <p:nvPr/>
        </p:nvSpPr>
        <p:spPr>
          <a:xfrm>
            <a:off x="8900759" y="4752921"/>
            <a:ext cx="2170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Add one by one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92342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5">
            <a:extLst>
              <a:ext uri="{FF2B5EF4-FFF2-40B4-BE49-F238E27FC236}">
                <a16:creationId xmlns:a16="http://schemas.microsoft.com/office/drawing/2014/main" id="{9C2AE5D3-552F-504E-A0A2-F60FB9EECE08}"/>
              </a:ext>
            </a:extLst>
          </p:cNvPr>
          <p:cNvCxnSpPr>
            <a:cxnSpLocks/>
          </p:cNvCxnSpPr>
          <p:nvPr/>
        </p:nvCxnSpPr>
        <p:spPr>
          <a:xfrm flipV="1">
            <a:off x="0" y="693585"/>
            <a:ext cx="11674136" cy="2"/>
          </a:xfrm>
          <a:prstGeom prst="line">
            <a:avLst/>
          </a:prstGeom>
          <a:ln w="12700">
            <a:solidFill>
              <a:srgbClr val="70AE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6">
            <a:extLst>
              <a:ext uri="{FF2B5EF4-FFF2-40B4-BE49-F238E27FC236}">
                <a16:creationId xmlns:a16="http://schemas.microsoft.com/office/drawing/2014/main" id="{4AFFB448-6F69-0646-982F-E2EC1AC5D828}"/>
              </a:ext>
            </a:extLst>
          </p:cNvPr>
          <p:cNvSpPr/>
          <p:nvPr/>
        </p:nvSpPr>
        <p:spPr>
          <a:xfrm>
            <a:off x="0" y="693585"/>
            <a:ext cx="6373504" cy="126193"/>
          </a:xfrm>
          <a:prstGeom prst="rect">
            <a:avLst/>
          </a:prstGeom>
          <a:solidFill>
            <a:srgbClr val="70AE47"/>
          </a:solidFill>
          <a:ln w="9525">
            <a:solidFill>
              <a:srgbClr val="70AE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1BDBE009-8267-3841-A6A9-6A8D3D829B08}"/>
              </a:ext>
            </a:extLst>
          </p:cNvPr>
          <p:cNvSpPr txBox="1">
            <a:spLocks/>
          </p:cNvSpPr>
          <p:nvPr/>
        </p:nvSpPr>
        <p:spPr>
          <a:xfrm>
            <a:off x="68705" y="97961"/>
            <a:ext cx="6027294" cy="627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0">
              <a:defRPr/>
            </a:pP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 Gothic" panose="020D0604000000000000" pitchFamily="34" charset="-127"/>
                <a:ea typeface="Nanum Gothic" panose="020D0604000000000000" pitchFamily="34" charset="-127"/>
                <a:cs typeface="+mn-ea"/>
                <a:sym typeface="Calibri" panose="020F0502020204030204" pitchFamily="34" charset="0"/>
              </a:rPr>
              <a:t>3.1 Model Training</a:t>
            </a:r>
          </a:p>
        </p:txBody>
      </p:sp>
      <p:pic>
        <p:nvPicPr>
          <p:cNvPr id="17" name="image8.png">
            <a:extLst>
              <a:ext uri="{FF2B5EF4-FFF2-40B4-BE49-F238E27FC236}">
                <a16:creationId xmlns:a16="http://schemas.microsoft.com/office/drawing/2014/main" id="{1C7BA821-038A-45FB-B3C2-F4D06E4EA626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704505" y="2373538"/>
            <a:ext cx="9337997" cy="2700860"/>
          </a:xfrm>
          <a:prstGeom prst="rect">
            <a:avLst/>
          </a:prstGeom>
          <a:ln/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A557146-A768-4A6F-8AF7-8D3A72DACB94}"/>
              </a:ext>
            </a:extLst>
          </p:cNvPr>
          <p:cNvSpPr txBox="1"/>
          <p:nvPr/>
        </p:nvSpPr>
        <p:spPr>
          <a:xfrm>
            <a:off x="502826" y="1046070"/>
            <a:ext cx="61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Pseudo algorithm for add variable one by one 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6755242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5">
            <a:extLst>
              <a:ext uri="{FF2B5EF4-FFF2-40B4-BE49-F238E27FC236}">
                <a16:creationId xmlns:a16="http://schemas.microsoft.com/office/drawing/2014/main" id="{9C2AE5D3-552F-504E-A0A2-F60FB9EECE08}"/>
              </a:ext>
            </a:extLst>
          </p:cNvPr>
          <p:cNvCxnSpPr>
            <a:cxnSpLocks/>
          </p:cNvCxnSpPr>
          <p:nvPr/>
        </p:nvCxnSpPr>
        <p:spPr>
          <a:xfrm flipV="1">
            <a:off x="0" y="693585"/>
            <a:ext cx="11674136" cy="2"/>
          </a:xfrm>
          <a:prstGeom prst="line">
            <a:avLst/>
          </a:prstGeom>
          <a:ln w="12700">
            <a:solidFill>
              <a:srgbClr val="70AE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6">
            <a:extLst>
              <a:ext uri="{FF2B5EF4-FFF2-40B4-BE49-F238E27FC236}">
                <a16:creationId xmlns:a16="http://schemas.microsoft.com/office/drawing/2014/main" id="{4AFFB448-6F69-0646-982F-E2EC1AC5D828}"/>
              </a:ext>
            </a:extLst>
          </p:cNvPr>
          <p:cNvSpPr/>
          <p:nvPr/>
        </p:nvSpPr>
        <p:spPr>
          <a:xfrm>
            <a:off x="0" y="693585"/>
            <a:ext cx="6373504" cy="126193"/>
          </a:xfrm>
          <a:prstGeom prst="rect">
            <a:avLst/>
          </a:prstGeom>
          <a:solidFill>
            <a:srgbClr val="70AE47"/>
          </a:solidFill>
          <a:ln w="9525">
            <a:solidFill>
              <a:srgbClr val="70AE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1BDBE009-8267-3841-A6A9-6A8D3D829B08}"/>
              </a:ext>
            </a:extLst>
          </p:cNvPr>
          <p:cNvSpPr txBox="1">
            <a:spLocks/>
          </p:cNvSpPr>
          <p:nvPr/>
        </p:nvSpPr>
        <p:spPr>
          <a:xfrm>
            <a:off x="68705" y="97961"/>
            <a:ext cx="6027294" cy="627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0">
              <a:defRPr/>
            </a:pP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 Gothic" panose="020D0604000000000000" pitchFamily="34" charset="-127"/>
                <a:ea typeface="Nanum Gothic" panose="020D0604000000000000" pitchFamily="34" charset="-127"/>
                <a:cs typeface="+mn-ea"/>
                <a:sym typeface="Calibri" panose="020F0502020204030204" pitchFamily="34" charset="0"/>
              </a:rPr>
              <a:t>3.1 Model Training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557146-A768-4A6F-8AF7-8D3A72DACB94}"/>
              </a:ext>
            </a:extLst>
          </p:cNvPr>
          <p:cNvSpPr txBox="1"/>
          <p:nvPr/>
        </p:nvSpPr>
        <p:spPr>
          <a:xfrm>
            <a:off x="502826" y="1046070"/>
            <a:ext cx="61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Pseudo algorithm for add variable one by one </a:t>
            </a:r>
            <a:endParaRPr lang="ko-KR" altLang="en-US" b="1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3A380EA-9DF2-414D-AFAC-56E7F615DB8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76" t="7404"/>
          <a:stretch/>
        </p:blipFill>
        <p:spPr>
          <a:xfrm>
            <a:off x="3274141" y="2007001"/>
            <a:ext cx="5132440" cy="28439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EC931DE-7665-4E38-B2A1-6E32B17F7DAC}"/>
              </a:ext>
            </a:extLst>
          </p:cNvPr>
          <p:cNvSpPr txBox="1"/>
          <p:nvPr/>
        </p:nvSpPr>
        <p:spPr>
          <a:xfrm>
            <a:off x="4569397" y="5257931"/>
            <a:ext cx="2771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11 variables remain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20437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5">
            <a:extLst>
              <a:ext uri="{FF2B5EF4-FFF2-40B4-BE49-F238E27FC236}">
                <a16:creationId xmlns:a16="http://schemas.microsoft.com/office/drawing/2014/main" id="{9C2AE5D3-552F-504E-A0A2-F60FB9EECE08}"/>
              </a:ext>
            </a:extLst>
          </p:cNvPr>
          <p:cNvCxnSpPr>
            <a:cxnSpLocks/>
          </p:cNvCxnSpPr>
          <p:nvPr/>
        </p:nvCxnSpPr>
        <p:spPr>
          <a:xfrm flipV="1">
            <a:off x="0" y="693585"/>
            <a:ext cx="11674136" cy="2"/>
          </a:xfrm>
          <a:prstGeom prst="line">
            <a:avLst/>
          </a:prstGeom>
          <a:ln w="12700">
            <a:solidFill>
              <a:srgbClr val="70AE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6">
            <a:extLst>
              <a:ext uri="{FF2B5EF4-FFF2-40B4-BE49-F238E27FC236}">
                <a16:creationId xmlns:a16="http://schemas.microsoft.com/office/drawing/2014/main" id="{4AFFB448-6F69-0646-982F-E2EC1AC5D828}"/>
              </a:ext>
            </a:extLst>
          </p:cNvPr>
          <p:cNvSpPr/>
          <p:nvPr/>
        </p:nvSpPr>
        <p:spPr>
          <a:xfrm>
            <a:off x="0" y="693585"/>
            <a:ext cx="6373504" cy="126193"/>
          </a:xfrm>
          <a:prstGeom prst="rect">
            <a:avLst/>
          </a:prstGeom>
          <a:solidFill>
            <a:srgbClr val="70AE47"/>
          </a:solidFill>
          <a:ln w="9525">
            <a:solidFill>
              <a:srgbClr val="70AE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1BDBE009-8267-3841-A6A9-6A8D3D829B08}"/>
              </a:ext>
            </a:extLst>
          </p:cNvPr>
          <p:cNvSpPr txBox="1">
            <a:spLocks/>
          </p:cNvSpPr>
          <p:nvPr/>
        </p:nvSpPr>
        <p:spPr>
          <a:xfrm>
            <a:off x="68705" y="97961"/>
            <a:ext cx="6027294" cy="627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0">
              <a:defRPr/>
            </a:pP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 Gothic" panose="020D0604000000000000" pitchFamily="34" charset="-127"/>
                <a:ea typeface="Nanum Gothic" panose="020D0604000000000000" pitchFamily="34" charset="-127"/>
                <a:cs typeface="+mn-ea"/>
                <a:sym typeface="Calibri" panose="020F0502020204030204" pitchFamily="34" charset="0"/>
              </a:rPr>
              <a:t>3.2 Model Validation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E37EF5-C266-4CB4-A3EB-B04E27536F94}"/>
              </a:ext>
            </a:extLst>
          </p:cNvPr>
          <p:cNvSpPr txBox="1"/>
          <p:nvPr/>
        </p:nvSpPr>
        <p:spPr>
          <a:xfrm>
            <a:off x="502826" y="1046070"/>
            <a:ext cx="61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Separate train set and validation set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6B6503-E298-4555-AFD1-BD1B65FFD29B}"/>
              </a:ext>
            </a:extLst>
          </p:cNvPr>
          <p:cNvSpPr txBox="1"/>
          <p:nvPr/>
        </p:nvSpPr>
        <p:spPr>
          <a:xfrm>
            <a:off x="2315498" y="3280254"/>
            <a:ext cx="83770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>
                <a:solidFill>
                  <a:srgbClr val="6EAC46"/>
                </a:solidFill>
              </a:rPr>
              <a:t>2018            2017 2016 2015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9B7525-F800-4DF7-B539-829838FBA7C0}"/>
              </a:ext>
            </a:extLst>
          </p:cNvPr>
          <p:cNvSpPr txBox="1"/>
          <p:nvPr/>
        </p:nvSpPr>
        <p:spPr>
          <a:xfrm>
            <a:off x="2617778" y="2684630"/>
            <a:ext cx="929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Train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F59D0A-7724-4575-894C-CF2DCDE2C091}"/>
              </a:ext>
            </a:extLst>
          </p:cNvPr>
          <p:cNvSpPr txBox="1"/>
          <p:nvPr/>
        </p:nvSpPr>
        <p:spPr>
          <a:xfrm>
            <a:off x="7509452" y="2684630"/>
            <a:ext cx="13985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Validation</a:t>
            </a:r>
          </a:p>
        </p:txBody>
      </p:sp>
    </p:spTree>
    <p:extLst>
      <p:ext uri="{BB962C8B-B14F-4D97-AF65-F5344CB8AC3E}">
        <p14:creationId xmlns:p14="http://schemas.microsoft.com/office/powerpoint/2010/main" val="4644961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5">
            <a:extLst>
              <a:ext uri="{FF2B5EF4-FFF2-40B4-BE49-F238E27FC236}">
                <a16:creationId xmlns:a16="http://schemas.microsoft.com/office/drawing/2014/main" id="{9C2AE5D3-552F-504E-A0A2-F60FB9EECE08}"/>
              </a:ext>
            </a:extLst>
          </p:cNvPr>
          <p:cNvCxnSpPr>
            <a:cxnSpLocks/>
          </p:cNvCxnSpPr>
          <p:nvPr/>
        </p:nvCxnSpPr>
        <p:spPr>
          <a:xfrm flipV="1">
            <a:off x="0" y="693585"/>
            <a:ext cx="11674136" cy="2"/>
          </a:xfrm>
          <a:prstGeom prst="line">
            <a:avLst/>
          </a:prstGeom>
          <a:ln w="12700">
            <a:solidFill>
              <a:srgbClr val="70AE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6">
            <a:extLst>
              <a:ext uri="{FF2B5EF4-FFF2-40B4-BE49-F238E27FC236}">
                <a16:creationId xmlns:a16="http://schemas.microsoft.com/office/drawing/2014/main" id="{4AFFB448-6F69-0646-982F-E2EC1AC5D828}"/>
              </a:ext>
            </a:extLst>
          </p:cNvPr>
          <p:cNvSpPr/>
          <p:nvPr/>
        </p:nvSpPr>
        <p:spPr>
          <a:xfrm>
            <a:off x="0" y="693585"/>
            <a:ext cx="6373504" cy="126193"/>
          </a:xfrm>
          <a:prstGeom prst="rect">
            <a:avLst/>
          </a:prstGeom>
          <a:solidFill>
            <a:srgbClr val="70AE47"/>
          </a:solidFill>
          <a:ln w="9525">
            <a:solidFill>
              <a:srgbClr val="70AE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1BDBE009-8267-3841-A6A9-6A8D3D829B08}"/>
              </a:ext>
            </a:extLst>
          </p:cNvPr>
          <p:cNvSpPr txBox="1">
            <a:spLocks/>
          </p:cNvSpPr>
          <p:nvPr/>
        </p:nvSpPr>
        <p:spPr>
          <a:xfrm>
            <a:off x="68705" y="97961"/>
            <a:ext cx="6027294" cy="627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0">
              <a:defRPr/>
            </a:pP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 Gothic" panose="020D0604000000000000" pitchFamily="34" charset="-127"/>
                <a:ea typeface="Nanum Gothic" panose="020D0604000000000000" pitchFamily="34" charset="-127"/>
                <a:cs typeface="+mn-ea"/>
                <a:sym typeface="Calibri" panose="020F0502020204030204" pitchFamily="34" charset="0"/>
              </a:rPr>
              <a:t>3.2 Model Validation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E37EF5-C266-4CB4-A3EB-B04E27536F94}"/>
              </a:ext>
            </a:extLst>
          </p:cNvPr>
          <p:cNvSpPr txBox="1"/>
          <p:nvPr/>
        </p:nvSpPr>
        <p:spPr>
          <a:xfrm>
            <a:off x="502826" y="1046070"/>
            <a:ext cx="61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Model for numeric variables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8E4D07-9562-4B4D-A572-DF42BA8724CB}"/>
              </a:ext>
            </a:extLst>
          </p:cNvPr>
          <p:cNvSpPr txBox="1"/>
          <p:nvPr/>
        </p:nvSpPr>
        <p:spPr>
          <a:xfrm>
            <a:off x="3186752" y="1641694"/>
            <a:ext cx="548502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rgbClr val="70AE47"/>
                </a:solidFill>
              </a:rPr>
              <a:t>Gradient Boosting Regression</a:t>
            </a:r>
          </a:p>
          <a:p>
            <a:pPr algn="ctr"/>
            <a:endParaRPr lang="en-US" altLang="ko-KR" sz="2400" b="1" dirty="0">
              <a:solidFill>
                <a:srgbClr val="70AE47"/>
              </a:solidFill>
            </a:endParaRPr>
          </a:p>
          <a:p>
            <a:pPr algn="ctr"/>
            <a:r>
              <a:rPr lang="en-US" altLang="ko-KR" sz="2400" b="1" dirty="0">
                <a:solidFill>
                  <a:srgbClr val="70AE47"/>
                </a:solidFill>
              </a:rPr>
              <a:t>KNN Regression</a:t>
            </a:r>
          </a:p>
          <a:p>
            <a:pPr algn="ctr"/>
            <a:endParaRPr lang="en-US" altLang="ko-KR" sz="2400" b="1" dirty="0">
              <a:solidFill>
                <a:srgbClr val="70AE47"/>
              </a:solidFill>
            </a:endParaRPr>
          </a:p>
          <a:p>
            <a:pPr algn="ctr"/>
            <a:r>
              <a:rPr lang="en-US" altLang="ko-KR" sz="2400" b="1" dirty="0">
                <a:solidFill>
                  <a:srgbClr val="70AE47"/>
                </a:solidFill>
              </a:rPr>
              <a:t>Support Vector Regression</a:t>
            </a:r>
          </a:p>
          <a:p>
            <a:pPr algn="ctr"/>
            <a:endParaRPr lang="en-US" altLang="ko-KR" sz="2400" b="1" dirty="0">
              <a:solidFill>
                <a:srgbClr val="70AE47"/>
              </a:solidFill>
            </a:endParaRPr>
          </a:p>
          <a:p>
            <a:pPr algn="ctr"/>
            <a:r>
              <a:rPr lang="en-US" altLang="ko-KR" sz="2400" b="1" dirty="0">
                <a:solidFill>
                  <a:srgbClr val="70AE47"/>
                </a:solidFill>
              </a:rPr>
              <a:t>Linear Support Vector Regression</a:t>
            </a:r>
          </a:p>
          <a:p>
            <a:pPr algn="ctr"/>
            <a:endParaRPr lang="en-US" altLang="ko-KR" sz="2400" b="1" dirty="0">
              <a:solidFill>
                <a:srgbClr val="70AE47"/>
              </a:solidFill>
            </a:endParaRPr>
          </a:p>
          <a:p>
            <a:pPr algn="ctr"/>
            <a:r>
              <a:rPr lang="en-US" altLang="ko-KR" sz="2400" b="1" dirty="0">
                <a:solidFill>
                  <a:srgbClr val="70AE47"/>
                </a:solidFill>
              </a:rPr>
              <a:t>Linear Regression</a:t>
            </a:r>
          </a:p>
          <a:p>
            <a:pPr algn="ctr"/>
            <a:endParaRPr lang="en-US" altLang="ko-KR" sz="2400" b="1" dirty="0">
              <a:solidFill>
                <a:srgbClr val="70AE47"/>
              </a:solidFill>
            </a:endParaRPr>
          </a:p>
          <a:p>
            <a:pPr algn="ctr"/>
            <a:r>
              <a:rPr lang="en-US" altLang="ko-KR" sz="2400" b="1" dirty="0">
                <a:solidFill>
                  <a:srgbClr val="70AE47"/>
                </a:solidFill>
              </a:rPr>
              <a:t>Random Forest Regression</a:t>
            </a:r>
          </a:p>
          <a:p>
            <a:pPr algn="ctr"/>
            <a:endParaRPr lang="en-US" altLang="ko-KR" sz="2400" b="1" dirty="0">
              <a:solidFill>
                <a:srgbClr val="70AE47"/>
              </a:solidFill>
            </a:endParaRPr>
          </a:p>
          <a:p>
            <a:pPr algn="ctr"/>
            <a:r>
              <a:rPr lang="en-US" altLang="ko-KR" sz="2400" b="1" dirty="0">
                <a:solidFill>
                  <a:srgbClr val="70AE47"/>
                </a:solidFill>
              </a:rPr>
              <a:t>Decision Tree Regression</a:t>
            </a:r>
          </a:p>
        </p:txBody>
      </p:sp>
    </p:spTree>
    <p:extLst>
      <p:ext uri="{BB962C8B-B14F-4D97-AF65-F5344CB8AC3E}">
        <p14:creationId xmlns:p14="http://schemas.microsoft.com/office/powerpoint/2010/main" val="39686338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5">
            <a:extLst>
              <a:ext uri="{FF2B5EF4-FFF2-40B4-BE49-F238E27FC236}">
                <a16:creationId xmlns:a16="http://schemas.microsoft.com/office/drawing/2014/main" id="{9C2AE5D3-552F-504E-A0A2-F60FB9EECE08}"/>
              </a:ext>
            </a:extLst>
          </p:cNvPr>
          <p:cNvCxnSpPr>
            <a:cxnSpLocks/>
          </p:cNvCxnSpPr>
          <p:nvPr/>
        </p:nvCxnSpPr>
        <p:spPr>
          <a:xfrm flipV="1">
            <a:off x="0" y="693585"/>
            <a:ext cx="11674136" cy="2"/>
          </a:xfrm>
          <a:prstGeom prst="line">
            <a:avLst/>
          </a:prstGeom>
          <a:ln w="12700">
            <a:solidFill>
              <a:srgbClr val="70AE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6">
            <a:extLst>
              <a:ext uri="{FF2B5EF4-FFF2-40B4-BE49-F238E27FC236}">
                <a16:creationId xmlns:a16="http://schemas.microsoft.com/office/drawing/2014/main" id="{4AFFB448-6F69-0646-982F-E2EC1AC5D828}"/>
              </a:ext>
            </a:extLst>
          </p:cNvPr>
          <p:cNvSpPr/>
          <p:nvPr/>
        </p:nvSpPr>
        <p:spPr>
          <a:xfrm>
            <a:off x="0" y="693585"/>
            <a:ext cx="6373504" cy="126193"/>
          </a:xfrm>
          <a:prstGeom prst="rect">
            <a:avLst/>
          </a:prstGeom>
          <a:solidFill>
            <a:srgbClr val="70AE47"/>
          </a:solidFill>
          <a:ln w="9525">
            <a:solidFill>
              <a:srgbClr val="70AE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1BDBE009-8267-3841-A6A9-6A8D3D829B08}"/>
              </a:ext>
            </a:extLst>
          </p:cNvPr>
          <p:cNvSpPr txBox="1">
            <a:spLocks/>
          </p:cNvSpPr>
          <p:nvPr/>
        </p:nvSpPr>
        <p:spPr>
          <a:xfrm>
            <a:off x="68705" y="97961"/>
            <a:ext cx="6027294" cy="627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0">
              <a:defRPr/>
            </a:pP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 Gothic" panose="020D0604000000000000" pitchFamily="34" charset="-127"/>
                <a:ea typeface="Nanum Gothic" panose="020D0604000000000000" pitchFamily="34" charset="-127"/>
                <a:cs typeface="+mn-ea"/>
                <a:sym typeface="Calibri" panose="020F0502020204030204" pitchFamily="34" charset="0"/>
              </a:rPr>
              <a:t>3.2 Model Validation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E37EF5-C266-4CB4-A3EB-B04E27536F94}"/>
              </a:ext>
            </a:extLst>
          </p:cNvPr>
          <p:cNvSpPr txBox="1"/>
          <p:nvPr/>
        </p:nvSpPr>
        <p:spPr>
          <a:xfrm>
            <a:off x="502826" y="1046070"/>
            <a:ext cx="61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Feature selection using Backward elimination method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EEE27B7-A2F4-4130-94B2-41F783066E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0352" y="1989318"/>
            <a:ext cx="3288095" cy="38226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CDA9DB1-7D29-4612-93D1-BFE1AA12D2EE}"/>
              </a:ext>
            </a:extLst>
          </p:cNvPr>
          <p:cNvSpPr txBox="1"/>
          <p:nvPr/>
        </p:nvSpPr>
        <p:spPr>
          <a:xfrm>
            <a:off x="68705" y="2439920"/>
            <a:ext cx="1411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Best score</a:t>
            </a:r>
            <a:endParaRPr lang="ko-KR" altLang="en-US" b="1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8FE6F70-C3E5-450F-9F02-CFDD1B6EA1D5}"/>
              </a:ext>
            </a:extLst>
          </p:cNvPr>
          <p:cNvSpPr/>
          <p:nvPr/>
        </p:nvSpPr>
        <p:spPr>
          <a:xfrm>
            <a:off x="1480352" y="2455309"/>
            <a:ext cx="3075129" cy="3385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화살표: 왼쪽 11">
            <a:extLst>
              <a:ext uri="{FF2B5EF4-FFF2-40B4-BE49-F238E27FC236}">
                <a16:creationId xmlns:a16="http://schemas.microsoft.com/office/drawing/2014/main" id="{3FC004D0-EB78-417A-8DAA-5366C07260DA}"/>
              </a:ext>
            </a:extLst>
          </p:cNvPr>
          <p:cNvSpPr/>
          <p:nvPr/>
        </p:nvSpPr>
        <p:spPr>
          <a:xfrm rot="10800000">
            <a:off x="5312764" y="3699272"/>
            <a:ext cx="867330" cy="402703"/>
          </a:xfrm>
          <a:prstGeom prst="leftArrow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4A41CE-5CBF-43EB-893A-AD19EB6BC5EC}"/>
              </a:ext>
            </a:extLst>
          </p:cNvPr>
          <p:cNvSpPr txBox="1"/>
          <p:nvPr/>
        </p:nvSpPr>
        <p:spPr>
          <a:xfrm>
            <a:off x="7064591" y="6016512"/>
            <a:ext cx="4140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Only</a:t>
            </a:r>
            <a:r>
              <a:rPr lang="en-US" altLang="ko-KR" b="1" dirty="0"/>
              <a:t> Radish normal year </a:t>
            </a:r>
            <a:r>
              <a:rPr lang="en-US" altLang="ko-KR" dirty="0"/>
              <a:t>is removed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5604C9-D703-4344-9F94-21A95B2F963D}"/>
              </a:ext>
            </a:extLst>
          </p:cNvPr>
          <p:cNvSpPr txBox="1"/>
          <p:nvPr/>
        </p:nvSpPr>
        <p:spPr>
          <a:xfrm>
            <a:off x="1492206" y="6016512"/>
            <a:ext cx="4140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Original variable set’s score</a:t>
            </a:r>
            <a:endParaRPr lang="ko-KR" altLang="en-US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7D5A5CC6-FFEC-4EF1-8A7C-B67DC8BC516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57" t="79079" r="-457" b="-1551"/>
          <a:stretch/>
        </p:blipFill>
        <p:spPr>
          <a:xfrm>
            <a:off x="6889015" y="3039322"/>
            <a:ext cx="4491589" cy="1722602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D3527042-1D33-4039-96FD-19DD732AD0A5}"/>
              </a:ext>
            </a:extLst>
          </p:cNvPr>
          <p:cNvSpPr/>
          <p:nvPr/>
        </p:nvSpPr>
        <p:spPr>
          <a:xfrm>
            <a:off x="10276114" y="3020667"/>
            <a:ext cx="1104490" cy="3383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05892E-FA6D-4EEA-9724-91D0EF70C050}"/>
              </a:ext>
            </a:extLst>
          </p:cNvPr>
          <p:cNvSpPr txBox="1"/>
          <p:nvPr/>
        </p:nvSpPr>
        <p:spPr>
          <a:xfrm>
            <a:off x="10122535" y="2609197"/>
            <a:ext cx="1411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Best score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3682114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5">
            <a:extLst>
              <a:ext uri="{FF2B5EF4-FFF2-40B4-BE49-F238E27FC236}">
                <a16:creationId xmlns:a16="http://schemas.microsoft.com/office/drawing/2014/main" id="{9C2AE5D3-552F-504E-A0A2-F60FB9EECE08}"/>
              </a:ext>
            </a:extLst>
          </p:cNvPr>
          <p:cNvCxnSpPr>
            <a:cxnSpLocks/>
          </p:cNvCxnSpPr>
          <p:nvPr/>
        </p:nvCxnSpPr>
        <p:spPr>
          <a:xfrm flipV="1">
            <a:off x="0" y="693585"/>
            <a:ext cx="11674136" cy="2"/>
          </a:xfrm>
          <a:prstGeom prst="line">
            <a:avLst/>
          </a:prstGeom>
          <a:ln w="12700">
            <a:solidFill>
              <a:srgbClr val="70AE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6">
            <a:extLst>
              <a:ext uri="{FF2B5EF4-FFF2-40B4-BE49-F238E27FC236}">
                <a16:creationId xmlns:a16="http://schemas.microsoft.com/office/drawing/2014/main" id="{4AFFB448-6F69-0646-982F-E2EC1AC5D828}"/>
              </a:ext>
            </a:extLst>
          </p:cNvPr>
          <p:cNvSpPr/>
          <p:nvPr/>
        </p:nvSpPr>
        <p:spPr>
          <a:xfrm>
            <a:off x="0" y="693585"/>
            <a:ext cx="6373504" cy="126193"/>
          </a:xfrm>
          <a:prstGeom prst="rect">
            <a:avLst/>
          </a:prstGeom>
          <a:solidFill>
            <a:srgbClr val="70AE47"/>
          </a:solidFill>
          <a:ln w="9525">
            <a:solidFill>
              <a:srgbClr val="70AE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1BDBE009-8267-3841-A6A9-6A8D3D829B08}"/>
              </a:ext>
            </a:extLst>
          </p:cNvPr>
          <p:cNvSpPr txBox="1">
            <a:spLocks/>
          </p:cNvSpPr>
          <p:nvPr/>
        </p:nvSpPr>
        <p:spPr>
          <a:xfrm>
            <a:off x="68705" y="97961"/>
            <a:ext cx="6027294" cy="627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0">
              <a:defRPr/>
            </a:pP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 Gothic" panose="020D0604000000000000" pitchFamily="34" charset="-127"/>
                <a:ea typeface="Nanum Gothic" panose="020D0604000000000000" pitchFamily="34" charset="-127"/>
                <a:cs typeface="+mn-ea"/>
                <a:sym typeface="Calibri" panose="020F0502020204030204" pitchFamily="34" charset="0"/>
              </a:rPr>
              <a:t>3.2 Model Validation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E37EF5-C266-4CB4-A3EB-B04E27536F94}"/>
              </a:ext>
            </a:extLst>
          </p:cNvPr>
          <p:cNvSpPr txBox="1"/>
          <p:nvPr/>
        </p:nvSpPr>
        <p:spPr>
          <a:xfrm>
            <a:off x="4502623" y="5512388"/>
            <a:ext cx="3186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Best </a:t>
            </a:r>
            <a:r>
              <a:rPr lang="en-US" altLang="ko-KR" dirty="0" err="1"/>
              <a:t>R_square</a:t>
            </a:r>
            <a:r>
              <a:rPr lang="en-US" altLang="ko-KR" dirty="0"/>
              <a:t> is about 64%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440F3AD-6F12-40F4-868E-D4D3403C9B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7853395"/>
              </p:ext>
            </p:extLst>
          </p:nvPr>
        </p:nvGraphicFramePr>
        <p:xfrm>
          <a:off x="2146298" y="2027406"/>
          <a:ext cx="7899401" cy="3220280"/>
        </p:xfrm>
        <a:graphic>
          <a:graphicData uri="http://schemas.openxmlformats.org/drawingml/2006/table">
            <a:tbl>
              <a:tblPr firstRow="1" firstCol="1" bandRow="1">
                <a:tableStyleId>{10A1B5D5-9B99-4C35-A422-299274C87663}</a:tableStyleId>
              </a:tblPr>
              <a:tblGrid>
                <a:gridCol w="897113">
                  <a:extLst>
                    <a:ext uri="{9D8B030D-6E8A-4147-A177-3AD203B41FA5}">
                      <a16:colId xmlns:a16="http://schemas.microsoft.com/office/drawing/2014/main" val="1052101591"/>
                    </a:ext>
                  </a:extLst>
                </a:gridCol>
                <a:gridCol w="5559822">
                  <a:extLst>
                    <a:ext uri="{9D8B030D-6E8A-4147-A177-3AD203B41FA5}">
                      <a16:colId xmlns:a16="http://schemas.microsoft.com/office/drawing/2014/main" val="2898336750"/>
                    </a:ext>
                  </a:extLst>
                </a:gridCol>
                <a:gridCol w="1442466">
                  <a:extLst>
                    <a:ext uri="{9D8B030D-6E8A-4147-A177-3AD203B41FA5}">
                      <a16:colId xmlns:a16="http://schemas.microsoft.com/office/drawing/2014/main" val="424874642"/>
                    </a:ext>
                  </a:extLst>
                </a:gridCol>
              </a:tblGrid>
              <a:tr h="4025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800">
                          <a:effectLst/>
                        </a:rPr>
                        <a:t> </a:t>
                      </a:r>
                      <a:endParaRPr lang="ko-KR" sz="2400"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2400" dirty="0" err="1">
                          <a:effectLst/>
                        </a:rPr>
                        <a:t>Method</a:t>
                      </a:r>
                      <a:endParaRPr lang="ko-KR" sz="2400" dirty="0"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2400">
                          <a:effectLst/>
                        </a:rPr>
                        <a:t>Score</a:t>
                      </a:r>
                      <a:endParaRPr lang="ko-KR" sz="2400"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69884352"/>
                  </a:ext>
                </a:extLst>
              </a:tr>
              <a:tr h="4025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2400">
                          <a:effectLst/>
                        </a:rPr>
                        <a:t>1</a:t>
                      </a:r>
                      <a:endParaRPr lang="ko-KR" sz="2400"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2400">
                          <a:effectLst/>
                        </a:rPr>
                        <a:t>Gradient Boosting Regression</a:t>
                      </a:r>
                      <a:endParaRPr lang="ko-KR" sz="2400"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2400">
                          <a:effectLst/>
                        </a:rPr>
                        <a:t>0.64004</a:t>
                      </a:r>
                      <a:endParaRPr lang="ko-KR" sz="2400"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39255700"/>
                  </a:ext>
                </a:extLst>
              </a:tr>
              <a:tr h="4025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2400">
                          <a:effectLst/>
                        </a:rPr>
                        <a:t>2</a:t>
                      </a:r>
                      <a:endParaRPr lang="ko-KR" sz="2400"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2400">
                          <a:effectLst/>
                        </a:rPr>
                        <a:t>KNN Regression</a:t>
                      </a:r>
                      <a:endParaRPr lang="ko-KR" sz="2400"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2400">
                          <a:effectLst/>
                        </a:rPr>
                        <a:t>0.617634</a:t>
                      </a:r>
                      <a:endParaRPr lang="ko-KR" sz="2400"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58866347"/>
                  </a:ext>
                </a:extLst>
              </a:tr>
              <a:tr h="4025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2400">
                          <a:effectLst/>
                        </a:rPr>
                        <a:t>3</a:t>
                      </a:r>
                      <a:endParaRPr lang="ko-KR" sz="2400"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2400">
                          <a:effectLst/>
                        </a:rPr>
                        <a:t>Support Vector Regression</a:t>
                      </a:r>
                      <a:endParaRPr lang="ko-KR" sz="2400"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2400">
                          <a:effectLst/>
                        </a:rPr>
                        <a:t>0.595854</a:t>
                      </a:r>
                      <a:endParaRPr lang="ko-KR" sz="2400"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98686308"/>
                  </a:ext>
                </a:extLst>
              </a:tr>
              <a:tr h="4025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2400">
                          <a:effectLst/>
                        </a:rPr>
                        <a:t>4</a:t>
                      </a:r>
                      <a:endParaRPr lang="ko-KR" sz="2400"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2400" dirty="0" err="1">
                          <a:effectLst/>
                        </a:rPr>
                        <a:t>Linear</a:t>
                      </a:r>
                      <a:r>
                        <a:rPr lang="ko-KR" sz="2400" dirty="0">
                          <a:effectLst/>
                        </a:rPr>
                        <a:t> </a:t>
                      </a:r>
                      <a:r>
                        <a:rPr lang="ko-KR" sz="2400" dirty="0" err="1">
                          <a:effectLst/>
                        </a:rPr>
                        <a:t>Support</a:t>
                      </a:r>
                      <a:r>
                        <a:rPr lang="ko-KR" sz="2400" dirty="0">
                          <a:effectLst/>
                        </a:rPr>
                        <a:t> </a:t>
                      </a:r>
                      <a:r>
                        <a:rPr lang="ko-KR" sz="2400" dirty="0" err="1">
                          <a:effectLst/>
                        </a:rPr>
                        <a:t>Vector</a:t>
                      </a:r>
                      <a:r>
                        <a:rPr lang="ko-KR" sz="2400" dirty="0">
                          <a:effectLst/>
                        </a:rPr>
                        <a:t> </a:t>
                      </a:r>
                      <a:r>
                        <a:rPr lang="ko-KR" sz="2400" dirty="0" err="1">
                          <a:effectLst/>
                        </a:rPr>
                        <a:t>Regression</a:t>
                      </a:r>
                      <a:endParaRPr lang="ko-KR" sz="2400" dirty="0"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2400">
                          <a:effectLst/>
                        </a:rPr>
                        <a:t>0.571686</a:t>
                      </a:r>
                      <a:endParaRPr lang="ko-KR" sz="2400"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57614358"/>
                  </a:ext>
                </a:extLst>
              </a:tr>
              <a:tr h="4025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2400">
                          <a:effectLst/>
                        </a:rPr>
                        <a:t>5</a:t>
                      </a:r>
                      <a:endParaRPr lang="ko-KR" sz="2400"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2400">
                          <a:effectLst/>
                        </a:rPr>
                        <a:t>Linear Regression</a:t>
                      </a:r>
                      <a:endParaRPr lang="ko-KR" sz="2400"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2400">
                          <a:effectLst/>
                        </a:rPr>
                        <a:t>0.565908</a:t>
                      </a:r>
                      <a:endParaRPr lang="ko-KR" sz="2400"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33019125"/>
                  </a:ext>
                </a:extLst>
              </a:tr>
              <a:tr h="4025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2400">
                          <a:effectLst/>
                        </a:rPr>
                        <a:t>6</a:t>
                      </a:r>
                      <a:endParaRPr lang="ko-KR" sz="2400"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2400">
                          <a:effectLst/>
                        </a:rPr>
                        <a:t>Random Forest Regression</a:t>
                      </a:r>
                      <a:endParaRPr lang="ko-KR" sz="2400"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2400">
                          <a:effectLst/>
                        </a:rPr>
                        <a:t>0.503584</a:t>
                      </a:r>
                      <a:endParaRPr lang="ko-KR" sz="2400"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6059116"/>
                  </a:ext>
                </a:extLst>
              </a:tr>
              <a:tr h="4025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2400">
                          <a:effectLst/>
                        </a:rPr>
                        <a:t>7</a:t>
                      </a:r>
                      <a:endParaRPr lang="ko-KR" sz="2400"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2400" dirty="0" err="1">
                          <a:effectLst/>
                        </a:rPr>
                        <a:t>Decision</a:t>
                      </a:r>
                      <a:r>
                        <a:rPr lang="ko-KR" sz="2400" dirty="0">
                          <a:effectLst/>
                        </a:rPr>
                        <a:t> Tree </a:t>
                      </a:r>
                      <a:r>
                        <a:rPr lang="ko-KR" sz="2400" dirty="0" err="1">
                          <a:effectLst/>
                        </a:rPr>
                        <a:t>Regression</a:t>
                      </a:r>
                      <a:endParaRPr lang="ko-KR" sz="2400" dirty="0"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2400" dirty="0">
                          <a:effectLst/>
                        </a:rPr>
                        <a:t>0.213532</a:t>
                      </a:r>
                      <a:endParaRPr lang="ko-KR" sz="2400" dirty="0"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512649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17748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">
            <a:extLst>
              <a:ext uri="{FF2B5EF4-FFF2-40B4-BE49-F238E27FC236}">
                <a16:creationId xmlns:a16="http://schemas.microsoft.com/office/drawing/2014/main" id="{601E0D97-DAFA-344B-B290-30ED128B63CE}"/>
              </a:ext>
            </a:extLst>
          </p:cNvPr>
          <p:cNvSpPr txBox="1"/>
          <p:nvPr/>
        </p:nvSpPr>
        <p:spPr>
          <a:xfrm>
            <a:off x="3387969" y="2284936"/>
            <a:ext cx="5416062" cy="2018897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 latinLnBrk="0">
              <a:defRPr/>
            </a:pPr>
            <a:r>
              <a:rPr lang="en-US" altLang="ko-KR" sz="54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ea"/>
                <a:sym typeface="Calibri" panose="020F0502020204030204" pitchFamily="34" charset="0"/>
              </a:rPr>
              <a:t>4. Conclusion</a:t>
            </a:r>
            <a:endParaRPr lang="en-US" altLang="zh-CN" sz="5400" b="1" dirty="0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+mn-ea"/>
              <a:sym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AAE8E6-9C0A-6B41-9582-A1BE8A207610}"/>
              </a:ext>
            </a:extLst>
          </p:cNvPr>
          <p:cNvSpPr txBox="1"/>
          <p:nvPr/>
        </p:nvSpPr>
        <p:spPr>
          <a:xfrm>
            <a:off x="5275385" y="199206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cxnSp>
        <p:nvCxnSpPr>
          <p:cNvPr id="8" name="Straight Connector 5">
            <a:extLst>
              <a:ext uri="{FF2B5EF4-FFF2-40B4-BE49-F238E27FC236}">
                <a16:creationId xmlns:a16="http://schemas.microsoft.com/office/drawing/2014/main" id="{CB3A8313-4A6F-4A4A-848E-CC5A847CE3B7}"/>
              </a:ext>
            </a:extLst>
          </p:cNvPr>
          <p:cNvCxnSpPr/>
          <p:nvPr/>
        </p:nvCxnSpPr>
        <p:spPr>
          <a:xfrm>
            <a:off x="0" y="3438066"/>
            <a:ext cx="9608024" cy="0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6">
            <a:extLst>
              <a:ext uri="{FF2B5EF4-FFF2-40B4-BE49-F238E27FC236}">
                <a16:creationId xmlns:a16="http://schemas.microsoft.com/office/drawing/2014/main" id="{C8E03941-2129-440E-B933-F39939171DFC}"/>
              </a:ext>
            </a:extLst>
          </p:cNvPr>
          <p:cNvSpPr/>
          <p:nvPr/>
        </p:nvSpPr>
        <p:spPr>
          <a:xfrm>
            <a:off x="0" y="3438065"/>
            <a:ext cx="6373504" cy="126193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70AE46"/>
              </a:solidFill>
            </a:endParaRPr>
          </a:p>
        </p:txBody>
      </p:sp>
      <p:pic>
        <p:nvPicPr>
          <p:cNvPr id="10" name="Picture 2" descr="김치, 아이콘, 일러스트, 벡터, 고추">
            <a:extLst>
              <a:ext uri="{FF2B5EF4-FFF2-40B4-BE49-F238E27FC236}">
                <a16:creationId xmlns:a16="http://schemas.microsoft.com/office/drawing/2014/main" id="{BC0C207A-C140-4E69-8BA2-261904DEB0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3054" b="94784" l="6723" r="60504">
                        <a14:foregroundMark x1="54308" y1="63692" x2="52615" y2="74154"/>
                        <a14:foregroundMark x1="58923" y1="64769" x2="59692" y2="727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7838" r="59634"/>
          <a:stretch/>
        </p:blipFill>
        <p:spPr bwMode="auto">
          <a:xfrm rot="999380">
            <a:off x="8870896" y="2027621"/>
            <a:ext cx="1384478" cy="1789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44231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5">
            <a:extLst>
              <a:ext uri="{FF2B5EF4-FFF2-40B4-BE49-F238E27FC236}">
                <a16:creationId xmlns:a16="http://schemas.microsoft.com/office/drawing/2014/main" id="{9C2AE5D3-552F-504E-A0A2-F60FB9EECE08}"/>
              </a:ext>
            </a:extLst>
          </p:cNvPr>
          <p:cNvCxnSpPr>
            <a:cxnSpLocks/>
          </p:cNvCxnSpPr>
          <p:nvPr/>
        </p:nvCxnSpPr>
        <p:spPr>
          <a:xfrm flipV="1">
            <a:off x="0" y="693585"/>
            <a:ext cx="11674136" cy="2"/>
          </a:xfrm>
          <a:prstGeom prst="line">
            <a:avLst/>
          </a:prstGeom>
          <a:ln w="12700">
            <a:solidFill>
              <a:srgbClr val="70AE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6">
            <a:extLst>
              <a:ext uri="{FF2B5EF4-FFF2-40B4-BE49-F238E27FC236}">
                <a16:creationId xmlns:a16="http://schemas.microsoft.com/office/drawing/2014/main" id="{4AFFB448-6F69-0646-982F-E2EC1AC5D828}"/>
              </a:ext>
            </a:extLst>
          </p:cNvPr>
          <p:cNvSpPr/>
          <p:nvPr/>
        </p:nvSpPr>
        <p:spPr>
          <a:xfrm>
            <a:off x="0" y="693585"/>
            <a:ext cx="6373504" cy="126193"/>
          </a:xfrm>
          <a:prstGeom prst="rect">
            <a:avLst/>
          </a:prstGeom>
          <a:solidFill>
            <a:srgbClr val="70AE47"/>
          </a:solidFill>
          <a:ln w="9525">
            <a:solidFill>
              <a:srgbClr val="70AE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1BDBE009-8267-3841-A6A9-6A8D3D829B08}"/>
              </a:ext>
            </a:extLst>
          </p:cNvPr>
          <p:cNvSpPr txBox="1">
            <a:spLocks/>
          </p:cNvSpPr>
          <p:nvPr/>
        </p:nvSpPr>
        <p:spPr>
          <a:xfrm>
            <a:off x="68705" y="97961"/>
            <a:ext cx="6027294" cy="627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0">
              <a:defRPr/>
            </a:pP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 Gothic" panose="020D0604000000000000" pitchFamily="34" charset="-127"/>
                <a:ea typeface="Nanum Gothic" panose="020D0604000000000000" pitchFamily="34" charset="-127"/>
                <a:cs typeface="+mn-ea"/>
                <a:sym typeface="Calibri" panose="020F0502020204030204" pitchFamily="34" charset="0"/>
              </a:rPr>
              <a:t>4. Conclusion</a:t>
            </a:r>
          </a:p>
        </p:txBody>
      </p:sp>
    </p:spTree>
    <p:extLst>
      <p:ext uri="{BB962C8B-B14F-4D97-AF65-F5344CB8AC3E}">
        <p14:creationId xmlns:p14="http://schemas.microsoft.com/office/powerpoint/2010/main" val="29294940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4F86B6AB025FD946AA88059B33794286" ma:contentTypeVersion="8" ma:contentTypeDescription="새 문서를 만듭니다." ma:contentTypeScope="" ma:versionID="5b7aa5fa3a4c9605098d49df0828f476">
  <xsd:schema xmlns:xsd="http://www.w3.org/2001/XMLSchema" xmlns:xs="http://www.w3.org/2001/XMLSchema" xmlns:p="http://schemas.microsoft.com/office/2006/metadata/properties" xmlns:ns3="422125d0-3ff9-452c-b9a8-0b8ee2d6da71" targetNamespace="http://schemas.microsoft.com/office/2006/metadata/properties" ma:root="true" ma:fieldsID="8b3264b5481bb6f9713b22ea59c80532" ns3:_="">
    <xsd:import namespace="422125d0-3ff9-452c-b9a8-0b8ee2d6da7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2125d0-3ff9-452c-b9a8-0b8ee2d6da7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1C51B6A-F233-423E-A6E7-73D923C3E23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22125d0-3ff9-452c-b9a8-0b8ee2d6da7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DAB5909-3CC7-4E53-8363-E9CBC459180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13C22AD-F528-4A7B-9F37-4411BE02E004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4585</TotalTime>
  <Words>467</Words>
  <Application>Microsoft Office PowerPoint</Application>
  <PresentationFormat>와이드스크린</PresentationFormat>
  <Paragraphs>155</Paragraphs>
  <Slides>23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31" baseType="lpstr">
      <vt:lpstr>210 앱굴림 R</vt:lpstr>
      <vt:lpstr>Nanum Gothic</vt:lpstr>
      <vt:lpstr>Nanum Gothic ExtraBold</vt:lpstr>
      <vt:lpstr>나눔바른고딕OTF</vt:lpstr>
      <vt:lpstr>맑은 고딕</vt:lpstr>
      <vt:lpstr>Arial</vt:lpstr>
      <vt:lpstr>Calibri</vt:lpstr>
      <vt:lpstr>Office 테마</vt:lpstr>
      <vt:lpstr>Business Analytics Project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Sloth</dc:title>
  <dc:creator>Ku Seunghyo</dc:creator>
  <cp:lastModifiedBy>gangmin park</cp:lastModifiedBy>
  <cp:revision>300</cp:revision>
  <dcterms:created xsi:type="dcterms:W3CDTF">2019-04-14T09:23:58Z</dcterms:created>
  <dcterms:modified xsi:type="dcterms:W3CDTF">2019-12-02T12:46:00Z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0x0101004F86B6AB025FD946AA88059B33794286</vt:lpwstr>
  </property>
</Properties>
</file>